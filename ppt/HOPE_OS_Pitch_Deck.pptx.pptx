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urier New Bold" charset="1" panose="02070609020205020404"/>
      <p:regular r:id="rId24"/>
    </p:embeddedFont>
    <p:embeddedFont>
      <p:font typeface="Times New Roman Bold" charset="1" panose="02020803070505020304"/>
      <p:regular r:id="rId25"/>
    </p:embeddedFont>
    <p:embeddedFont>
      <p:font typeface="Times New Roman" charset="1" panose="02020603050405020304"/>
      <p:regular r:id="rId26"/>
    </p:embeddedFont>
    <p:embeddedFont>
      <p:font typeface="Trebuchet MS Bold" charset="1" panose="020B0703020202020204"/>
      <p:regular r:id="rId27"/>
    </p:embeddedFont>
    <p:embeddedFont>
      <p:font typeface="Calibri (MS) Italics" charset="1" panose="020F05020202040A0204"/>
      <p:regular r:id="rId28"/>
    </p:embeddedFont>
    <p:embeddedFont>
      <p:font typeface="Calibri (MS)" charset="1" panose="020F050202020403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jpeg" Type="http://schemas.openxmlformats.org/officeDocument/2006/relationships/image"/><Relationship Id="rId6" Target="../media/image11.png" Type="http://schemas.openxmlformats.org/officeDocument/2006/relationships/image"/><Relationship Id="rId7" Target="../media/image1.png" Type="http://schemas.openxmlformats.org/officeDocument/2006/relationships/image"/><Relationship Id="rId8" Target="../media/image6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Relationship Id="rId5" Target="../media/image7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jpeg" Type="http://schemas.openxmlformats.org/officeDocument/2006/relationships/image"/><Relationship Id="rId6" Target="../media/image18.png" Type="http://schemas.openxmlformats.org/officeDocument/2006/relationships/image"/><Relationship Id="rId7" Target="../media/image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20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19.png" Type="http://schemas.openxmlformats.org/officeDocument/2006/relationships/image"/><Relationship Id="rId5" Target="../media/image22.png" Type="http://schemas.openxmlformats.org/officeDocument/2006/relationships/image"/><Relationship Id="rId6" Target="../media/image18.png" Type="http://schemas.openxmlformats.org/officeDocument/2006/relationships/image"/><Relationship Id="rId7" Target="../media/image8.png" Type="http://schemas.openxmlformats.org/officeDocument/2006/relationships/image"/><Relationship Id="rId8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23.png" Type="http://schemas.openxmlformats.org/officeDocument/2006/relationships/image"/><Relationship Id="rId5" Target="../media/image20.png" Type="http://schemas.openxmlformats.org/officeDocument/2006/relationships/image"/><Relationship Id="rId6" Target="../media/image24.png" Type="http://schemas.openxmlformats.org/officeDocument/2006/relationships/image"/><Relationship Id="rId7" Target="https://aditisingh0102.github.io/trust-exam-shield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7156771" y="-1993420"/>
            <a:ext cx="25373001" cy="12304344"/>
            <a:chOff x="0" y="0"/>
            <a:chExt cx="6682601" cy="3240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82601" cy="3240650"/>
            </a:xfrm>
            <a:custGeom>
              <a:avLst/>
              <a:gdLst/>
              <a:ahLst/>
              <a:cxnLst/>
              <a:rect r="r" b="b" t="t" l="l"/>
              <a:pathLst>
                <a:path h="3240650" w="6682601">
                  <a:moveTo>
                    <a:pt x="0" y="0"/>
                  </a:moveTo>
                  <a:lnTo>
                    <a:pt x="6682601" y="0"/>
                  </a:lnTo>
                  <a:lnTo>
                    <a:pt x="6682601" y="3240650"/>
                  </a:lnTo>
                  <a:lnTo>
                    <a:pt x="0" y="3240650"/>
                  </a:lnTo>
                  <a:close/>
                </a:path>
              </a:pathLst>
            </a:custGeom>
            <a:gradFill rotWithShape="true">
              <a:gsLst>
                <a:gs pos="0">
                  <a:srgbClr val="02051F">
                    <a:alpha val="100000"/>
                  </a:srgbClr>
                </a:gs>
                <a:gs pos="50000">
                  <a:srgbClr val="02051E">
                    <a:alpha val="96000"/>
                  </a:srgbClr>
                </a:gs>
                <a:gs pos="100000">
                  <a:srgbClr val="05699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6682601" cy="322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994133" y="-2932428"/>
            <a:ext cx="9156697" cy="9156697"/>
            <a:chOff x="0" y="0"/>
            <a:chExt cx="12208929" cy="12208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891" cy="12208891"/>
            </a:xfrm>
            <a:custGeom>
              <a:avLst/>
              <a:gdLst/>
              <a:ahLst/>
              <a:cxnLst/>
              <a:rect r="r" b="b" t="t" l="l"/>
              <a:pathLst>
                <a:path h="12208891" w="12208891">
                  <a:moveTo>
                    <a:pt x="0" y="6104509"/>
                  </a:moveTo>
                  <a:cubicBezTo>
                    <a:pt x="0" y="2733040"/>
                    <a:pt x="2733040" y="0"/>
                    <a:pt x="6104509" y="0"/>
                  </a:cubicBezTo>
                  <a:cubicBezTo>
                    <a:pt x="9475978" y="0"/>
                    <a:pt x="12208891" y="2733040"/>
                    <a:pt x="12208891" y="6104509"/>
                  </a:cubicBezTo>
                  <a:cubicBezTo>
                    <a:pt x="12208891" y="9475978"/>
                    <a:pt x="9475851" y="12208891"/>
                    <a:pt x="6104509" y="12208891"/>
                  </a:cubicBezTo>
                  <a:cubicBezTo>
                    <a:pt x="2733167" y="12208891"/>
                    <a:pt x="0" y="9475851"/>
                    <a:pt x="0" y="6104509"/>
                  </a:cubicBezTo>
                  <a:close/>
                </a:path>
              </a:pathLst>
            </a:custGeom>
            <a:solidFill>
              <a:srgbClr val="00C8C8">
                <a:alpha val="392"/>
              </a:srgbClr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2560320" cy="2560320"/>
            <a:chOff x="0" y="0"/>
            <a:chExt cx="3413760" cy="341376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4137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21078" y="4023360"/>
            <a:ext cx="14264640" cy="1511796"/>
            <a:chOff x="0" y="0"/>
            <a:chExt cx="19019520" cy="20157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19520" cy="2015728"/>
            </a:xfrm>
            <a:custGeom>
              <a:avLst/>
              <a:gdLst/>
              <a:ahLst/>
              <a:cxnLst/>
              <a:rect r="r" b="b" t="t" l="l"/>
              <a:pathLst>
                <a:path h="201572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015728"/>
                  </a:lnTo>
                  <a:lnTo>
                    <a:pt x="0" y="20157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7561" r="0" b="-12014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019520" cy="2044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62572" y="5382263"/>
            <a:ext cx="13741403" cy="80267"/>
            <a:chOff x="0" y="0"/>
            <a:chExt cx="18321871" cy="107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21910" cy="107061"/>
            </a:xfrm>
            <a:custGeom>
              <a:avLst/>
              <a:gdLst/>
              <a:ahLst/>
              <a:cxnLst/>
              <a:rect r="r" b="b" t="t" l="l"/>
              <a:pathLst>
                <a:path h="107061" w="18321910">
                  <a:moveTo>
                    <a:pt x="0" y="0"/>
                  </a:moveTo>
                  <a:lnTo>
                    <a:pt x="18321910" y="0"/>
                  </a:lnTo>
                  <a:lnTo>
                    <a:pt x="18321910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281145" y="8387082"/>
            <a:ext cx="3259289" cy="848363"/>
            <a:chOff x="0" y="0"/>
            <a:chExt cx="4345718" cy="1131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45646" cy="1131062"/>
            </a:xfrm>
            <a:custGeom>
              <a:avLst/>
              <a:gdLst/>
              <a:ahLst/>
              <a:cxnLst/>
              <a:rect r="r" b="b" t="t" l="l"/>
              <a:pathLst>
                <a:path h="1131062" w="4345646">
                  <a:moveTo>
                    <a:pt x="0" y="201041"/>
                  </a:moveTo>
                  <a:cubicBezTo>
                    <a:pt x="0" y="90043"/>
                    <a:pt x="72485" y="0"/>
                    <a:pt x="161840" y="0"/>
                  </a:cubicBezTo>
                  <a:lnTo>
                    <a:pt x="4183807" y="0"/>
                  </a:lnTo>
                  <a:cubicBezTo>
                    <a:pt x="4273263" y="0"/>
                    <a:pt x="4345646" y="90043"/>
                    <a:pt x="4345646" y="201041"/>
                  </a:cubicBezTo>
                  <a:lnTo>
                    <a:pt x="4345646" y="930021"/>
                  </a:lnTo>
                  <a:cubicBezTo>
                    <a:pt x="4345646" y="1041146"/>
                    <a:pt x="4273161" y="1131062"/>
                    <a:pt x="4183807" y="1131062"/>
                  </a:cubicBezTo>
                  <a:lnTo>
                    <a:pt x="161840" y="1131062"/>
                  </a:lnTo>
                  <a:cubicBezTo>
                    <a:pt x="72485" y="1131189"/>
                    <a:pt x="0" y="1041146"/>
                    <a:pt x="0" y="930021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030323" y="8399783"/>
            <a:ext cx="4023360" cy="822960"/>
            <a:chOff x="0" y="0"/>
            <a:chExt cx="53644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3644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Python 3.11+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10778" y="8399783"/>
            <a:ext cx="3834175" cy="848363"/>
            <a:chOff x="0" y="0"/>
            <a:chExt cx="5112234" cy="1131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12150" cy="1131062"/>
            </a:xfrm>
            <a:custGeom>
              <a:avLst/>
              <a:gdLst/>
              <a:ahLst/>
              <a:cxnLst/>
              <a:rect r="r" b="b" t="t" l="l"/>
              <a:pathLst>
                <a:path h="1131062" w="5112150">
                  <a:moveTo>
                    <a:pt x="0" y="201041"/>
                  </a:moveTo>
                  <a:cubicBezTo>
                    <a:pt x="0" y="90043"/>
                    <a:pt x="85271" y="0"/>
                    <a:pt x="190386" y="0"/>
                  </a:cubicBezTo>
                  <a:lnTo>
                    <a:pt x="4921764" y="0"/>
                  </a:lnTo>
                  <a:cubicBezTo>
                    <a:pt x="5026999" y="0"/>
                    <a:pt x="5112150" y="90043"/>
                    <a:pt x="5112150" y="201041"/>
                  </a:cubicBezTo>
                  <a:lnTo>
                    <a:pt x="5112150" y="930021"/>
                  </a:lnTo>
                  <a:cubicBezTo>
                    <a:pt x="5112150" y="1041146"/>
                    <a:pt x="5026879" y="1131062"/>
                    <a:pt x="4921764" y="1131062"/>
                  </a:cubicBezTo>
                  <a:lnTo>
                    <a:pt x="190386" y="1131062"/>
                  </a:lnTo>
                  <a:cubicBezTo>
                    <a:pt x="85271" y="1131189"/>
                    <a:pt x="0" y="1041146"/>
                    <a:pt x="0" y="930021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721594" y="8387082"/>
            <a:ext cx="4023360" cy="822960"/>
            <a:chOff x="0" y="0"/>
            <a:chExt cx="53644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364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GTK4 / PyGObject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154663" y="8399783"/>
            <a:ext cx="4048763" cy="848363"/>
            <a:chOff x="0" y="0"/>
            <a:chExt cx="5398351" cy="1131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82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5398262">
                  <a:moveTo>
                    <a:pt x="0" y="201041"/>
                  </a:moveTo>
                  <a:cubicBezTo>
                    <a:pt x="0" y="90043"/>
                    <a:pt x="90043" y="0"/>
                    <a:pt x="201041" y="0"/>
                  </a:cubicBezTo>
                  <a:lnTo>
                    <a:pt x="5197221" y="0"/>
                  </a:lnTo>
                  <a:cubicBezTo>
                    <a:pt x="5308346" y="0"/>
                    <a:pt x="5398262" y="90043"/>
                    <a:pt x="5398262" y="201041"/>
                  </a:cubicBezTo>
                  <a:lnTo>
                    <a:pt x="5398262" y="930021"/>
                  </a:lnTo>
                  <a:cubicBezTo>
                    <a:pt x="5398262" y="1041146"/>
                    <a:pt x="5308219" y="1131062"/>
                    <a:pt x="5197221" y="1131062"/>
                  </a:cubicBezTo>
                  <a:lnTo>
                    <a:pt x="201041" y="1131062"/>
                  </a:lnTo>
                  <a:cubicBezTo>
                    <a:pt x="90043" y="1131189"/>
                    <a:pt x="0" y="1041146"/>
                    <a:pt x="0" y="930021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964154" y="8399783"/>
            <a:ext cx="4023360" cy="822960"/>
            <a:chOff x="0" y="0"/>
            <a:chExt cx="53644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364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 Linux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634149" y="169304"/>
            <a:ext cx="14264640" cy="531912"/>
            <a:chOff x="0" y="0"/>
            <a:chExt cx="19019520" cy="709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19520" cy="709216"/>
            </a:xfrm>
            <a:custGeom>
              <a:avLst/>
              <a:gdLst/>
              <a:ahLst/>
              <a:cxnLst/>
              <a:rect r="r" b="b" t="t" l="l"/>
              <a:pathLst>
                <a:path h="70921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09216"/>
                  </a:lnTo>
                  <a:lnTo>
                    <a:pt x="0" y="709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0971" r="0" b="-4741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9019520" cy="728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GROWMORE  ·  FAR AWAY HACKATHON 2026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14750" y="2011680"/>
            <a:ext cx="12777677" cy="2311177"/>
            <a:chOff x="0" y="0"/>
            <a:chExt cx="17036902" cy="30815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36903" cy="3081569"/>
            </a:xfrm>
            <a:custGeom>
              <a:avLst/>
              <a:gdLst/>
              <a:ahLst/>
              <a:cxnLst/>
              <a:rect r="r" b="b" t="t" l="l"/>
              <a:pathLst>
                <a:path h="3081569" w="17036903">
                  <a:moveTo>
                    <a:pt x="0" y="0"/>
                  </a:moveTo>
                  <a:lnTo>
                    <a:pt x="17036903" y="0"/>
                  </a:lnTo>
                  <a:lnTo>
                    <a:pt x="17036903" y="3081569"/>
                  </a:lnTo>
                  <a:lnTo>
                    <a:pt x="0" y="3081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406" r="-187" b="-5144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7036902" cy="3091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400"/>
                </a:lnSpc>
              </a:pPr>
              <a:r>
                <a:rPr lang="en-US" b="true" sz="9500">
                  <a:solidFill>
                    <a:srgbClr val="00C8C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HOPE 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017520" y="4322857"/>
            <a:ext cx="15544800" cy="1188720"/>
            <a:chOff x="0" y="0"/>
            <a:chExt cx="20726400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726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207264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00C4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Zero-Trust</a:t>
              </a:r>
              <a:r>
                <a:rPr lang="en-US" sz="3600" i="true">
                  <a:solidFill>
                    <a:srgbClr val="00C4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Exam Infrastructure for India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418074" y="7627743"/>
            <a:ext cx="14630400" cy="621792"/>
            <a:chOff x="0" y="0"/>
            <a:chExt cx="19507200" cy="829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07200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8471" r="0" b="-40847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95072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E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Aditi Singh | Ambar Kumar | Apurva Singh | Ansh Gupta | Rahul Rawat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18074" y="7132860"/>
            <a:ext cx="6150884" cy="522825"/>
            <a:chOff x="0" y="0"/>
            <a:chExt cx="9753600" cy="8290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829056"/>
            </a:xfrm>
            <a:custGeom>
              <a:avLst/>
              <a:gdLst/>
              <a:ahLst/>
              <a:cxnLst/>
              <a:rect r="r" b="b" t="t" l="l"/>
              <a:pathLst>
                <a:path h="82905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235" r="0" b="-1792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9753600" cy="829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A62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Team:  GrowMore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017520" y="5462530"/>
            <a:ext cx="12019274" cy="1354324"/>
            <a:chOff x="0" y="0"/>
            <a:chExt cx="23635464" cy="26632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635464" cy="2663230"/>
            </a:xfrm>
            <a:custGeom>
              <a:avLst/>
              <a:gdLst/>
              <a:ahLst/>
              <a:cxnLst/>
              <a:rect r="r" b="b" t="t" l="l"/>
              <a:pathLst>
                <a:path h="2663230" w="23635464">
                  <a:moveTo>
                    <a:pt x="0" y="0"/>
                  </a:moveTo>
                  <a:lnTo>
                    <a:pt x="23635464" y="0"/>
                  </a:lnTo>
                  <a:lnTo>
                    <a:pt x="23635464" y="2663230"/>
                  </a:lnTo>
                  <a:lnTo>
                    <a:pt x="0" y="266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884" r="12308" b="-8139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23635464" cy="2729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00C4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Eliminating Paper L</a:t>
              </a:r>
              <a:r>
                <a:rPr lang="en-US" sz="3600" i="true">
                  <a:solidFill>
                    <a:srgbClr val="00C4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eaks, Solver Gangs, and Exam Fraud through a Secure Offline Operating System.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802396">
            <a:off x="-2254066" y="5327337"/>
            <a:ext cx="7251333" cy="72513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6899">
                    <a:alpha val="55000"/>
                  </a:srgbClr>
                </a:gs>
                <a:gs pos="100000">
                  <a:srgbClr val="02102B">
                    <a:alpha val="5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268086">
            <a:off x="12385773" y="-3430232"/>
            <a:ext cx="6860464" cy="68604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6899">
                    <a:alpha val="71000"/>
                  </a:srgbClr>
                </a:gs>
                <a:gs pos="100000">
                  <a:srgbClr val="02102B">
                    <a:alpha val="71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5" y="631822"/>
            <a:ext cx="16459200" cy="1188720"/>
            <a:chOff x="0" y="0"/>
            <a:chExt cx="21945600" cy="1584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Four Critical Weaknesses Behind Exam Fraud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Executive Summary &amp; Problem Statement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2287" y="2553967"/>
            <a:ext cx="4036057" cy="4950457"/>
            <a:chOff x="0" y="0"/>
            <a:chExt cx="5381409" cy="66006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81371" cy="6600571"/>
            </a:xfrm>
            <a:custGeom>
              <a:avLst/>
              <a:gdLst/>
              <a:ahLst/>
              <a:cxnLst/>
              <a:rect r="r" b="b" t="t" l="l"/>
              <a:pathLst>
                <a:path h="6600571" w="5381371">
                  <a:moveTo>
                    <a:pt x="0" y="244602"/>
                  </a:moveTo>
                  <a:cubicBezTo>
                    <a:pt x="0" y="109474"/>
                    <a:pt x="109474" y="0"/>
                    <a:pt x="244602" y="0"/>
                  </a:cubicBezTo>
                  <a:lnTo>
                    <a:pt x="5136769" y="0"/>
                  </a:lnTo>
                  <a:cubicBezTo>
                    <a:pt x="5271897" y="0"/>
                    <a:pt x="5381371" y="109474"/>
                    <a:pt x="5381371" y="244602"/>
                  </a:cubicBezTo>
                  <a:lnTo>
                    <a:pt x="5381371" y="6355969"/>
                  </a:lnTo>
                  <a:cubicBezTo>
                    <a:pt x="5381371" y="6491097"/>
                    <a:pt x="5271897" y="6600571"/>
                    <a:pt x="5136769" y="6600571"/>
                  </a:cubicBezTo>
                  <a:lnTo>
                    <a:pt x="244602" y="6600571"/>
                  </a:lnTo>
                  <a:cubicBezTo>
                    <a:pt x="109474" y="6600571"/>
                    <a:pt x="0" y="6491097"/>
                    <a:pt x="0" y="6355969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011680" y="2834640"/>
            <a:ext cx="1005840" cy="1005840"/>
            <a:chOff x="0" y="0"/>
            <a:chExt cx="1341120" cy="134112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31520" y="3931920"/>
            <a:ext cx="3657600" cy="822960"/>
            <a:chOff x="0" y="0"/>
            <a:chExt cx="48768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Network Attack Surface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31520" y="4754880"/>
            <a:ext cx="3657600" cy="2468880"/>
            <a:chOff x="0" y="0"/>
            <a:chExt cx="4876800" cy="3291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604" t="0" r="-3660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8768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ive internet connections create opportunities for remote attacks and data interception.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39967" y="2553967"/>
            <a:ext cx="4036057" cy="4950457"/>
            <a:chOff x="0" y="0"/>
            <a:chExt cx="5381409" cy="66006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81371" cy="6600571"/>
            </a:xfrm>
            <a:custGeom>
              <a:avLst/>
              <a:gdLst/>
              <a:ahLst/>
              <a:cxnLst/>
              <a:rect r="r" b="b" t="t" l="l"/>
              <a:pathLst>
                <a:path h="6600571" w="5381371">
                  <a:moveTo>
                    <a:pt x="0" y="244602"/>
                  </a:moveTo>
                  <a:cubicBezTo>
                    <a:pt x="0" y="109474"/>
                    <a:pt x="109474" y="0"/>
                    <a:pt x="244602" y="0"/>
                  </a:cubicBezTo>
                  <a:lnTo>
                    <a:pt x="5136769" y="0"/>
                  </a:lnTo>
                  <a:cubicBezTo>
                    <a:pt x="5271897" y="0"/>
                    <a:pt x="5381371" y="109474"/>
                    <a:pt x="5381371" y="244602"/>
                  </a:cubicBezTo>
                  <a:lnTo>
                    <a:pt x="5381371" y="6355969"/>
                  </a:lnTo>
                  <a:cubicBezTo>
                    <a:pt x="5381371" y="6491097"/>
                    <a:pt x="5271897" y="6600571"/>
                    <a:pt x="5136769" y="6600571"/>
                  </a:cubicBezTo>
                  <a:lnTo>
                    <a:pt x="244602" y="6600571"/>
                  </a:lnTo>
                  <a:cubicBezTo>
                    <a:pt x="109474" y="6600571"/>
                    <a:pt x="0" y="6491097"/>
                    <a:pt x="0" y="6355969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309360" y="2834640"/>
            <a:ext cx="1005840" cy="1005840"/>
            <a:chOff x="0" y="0"/>
            <a:chExt cx="1341120" cy="134112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029200" y="3931920"/>
            <a:ext cx="3657600" cy="822960"/>
            <a:chOff x="0" y="0"/>
            <a:chExt cx="48768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OS Escape Vulnerabilities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29200" y="4754880"/>
            <a:ext cx="3657600" cy="2468880"/>
            <a:chOff x="0" y="0"/>
            <a:chExt cx="4876800" cy="3291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604" t="0" r="-3660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8768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Commercial OS (Windows/macOS) allows Alt+Tab, taskbar access, terminal shortcuts, and virtualization bypass.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37647" y="2553967"/>
            <a:ext cx="4036057" cy="4950457"/>
            <a:chOff x="0" y="0"/>
            <a:chExt cx="5381409" cy="66006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81371" cy="6600571"/>
            </a:xfrm>
            <a:custGeom>
              <a:avLst/>
              <a:gdLst/>
              <a:ahLst/>
              <a:cxnLst/>
              <a:rect r="r" b="b" t="t" l="l"/>
              <a:pathLst>
                <a:path h="6600571" w="5381371">
                  <a:moveTo>
                    <a:pt x="0" y="244602"/>
                  </a:moveTo>
                  <a:cubicBezTo>
                    <a:pt x="0" y="109474"/>
                    <a:pt x="109474" y="0"/>
                    <a:pt x="244602" y="0"/>
                  </a:cubicBezTo>
                  <a:lnTo>
                    <a:pt x="5136769" y="0"/>
                  </a:lnTo>
                  <a:cubicBezTo>
                    <a:pt x="5271897" y="0"/>
                    <a:pt x="5381371" y="109474"/>
                    <a:pt x="5381371" y="244602"/>
                  </a:cubicBezTo>
                  <a:lnTo>
                    <a:pt x="5381371" y="6355969"/>
                  </a:lnTo>
                  <a:cubicBezTo>
                    <a:pt x="5381371" y="6491097"/>
                    <a:pt x="5271897" y="6600571"/>
                    <a:pt x="5136769" y="6600571"/>
                  </a:cubicBezTo>
                  <a:lnTo>
                    <a:pt x="244602" y="6600571"/>
                  </a:lnTo>
                  <a:cubicBezTo>
                    <a:pt x="109474" y="6600571"/>
                    <a:pt x="0" y="6491097"/>
                    <a:pt x="0" y="6355969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607040" y="2834640"/>
            <a:ext cx="1005840" cy="1005840"/>
            <a:chOff x="0" y="0"/>
            <a:chExt cx="1341120" cy="134112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26880" y="3931920"/>
            <a:ext cx="3657600" cy="822960"/>
            <a:chOff x="0" y="0"/>
            <a:chExt cx="487680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 Data Tampering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26880" y="4754880"/>
            <a:ext cx="3657600" cy="2468880"/>
            <a:chOff x="0" y="0"/>
            <a:chExt cx="4876800" cy="3291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604" t="0" r="-3660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48768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Unencrypted answer files and exam databases stored on writable disks allow post-exam modification.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435327" y="2553967"/>
            <a:ext cx="4036057" cy="4950457"/>
            <a:chOff x="0" y="0"/>
            <a:chExt cx="5381409" cy="660060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81371" cy="6600571"/>
            </a:xfrm>
            <a:custGeom>
              <a:avLst/>
              <a:gdLst/>
              <a:ahLst/>
              <a:cxnLst/>
              <a:rect r="r" b="b" t="t" l="l"/>
              <a:pathLst>
                <a:path h="6600571" w="5381371">
                  <a:moveTo>
                    <a:pt x="0" y="244602"/>
                  </a:moveTo>
                  <a:cubicBezTo>
                    <a:pt x="0" y="109474"/>
                    <a:pt x="109474" y="0"/>
                    <a:pt x="244602" y="0"/>
                  </a:cubicBezTo>
                  <a:lnTo>
                    <a:pt x="5136769" y="0"/>
                  </a:lnTo>
                  <a:cubicBezTo>
                    <a:pt x="5271897" y="0"/>
                    <a:pt x="5381371" y="109474"/>
                    <a:pt x="5381371" y="244602"/>
                  </a:cubicBezTo>
                  <a:lnTo>
                    <a:pt x="5381371" y="6355969"/>
                  </a:lnTo>
                  <a:cubicBezTo>
                    <a:pt x="5381371" y="6491097"/>
                    <a:pt x="5271897" y="6600571"/>
                    <a:pt x="5136769" y="6600571"/>
                  </a:cubicBezTo>
                  <a:lnTo>
                    <a:pt x="244602" y="6600571"/>
                  </a:lnTo>
                  <a:cubicBezTo>
                    <a:pt x="109474" y="6600571"/>
                    <a:pt x="0" y="6491097"/>
                    <a:pt x="0" y="6355969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904720" y="2834640"/>
            <a:ext cx="1005840" cy="1005840"/>
            <a:chOff x="0" y="0"/>
            <a:chExt cx="1341120" cy="134112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624560" y="3931920"/>
            <a:ext cx="3657600" cy="822960"/>
            <a:chOff x="0" y="0"/>
            <a:chExt cx="487680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Identity Fraud at Scale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624560" y="4754880"/>
            <a:ext cx="3657600" cy="2468880"/>
            <a:chOff x="0" y="0"/>
            <a:chExt cx="4876800" cy="3291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604" t="0" r="-3660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8768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Manual proctoring and weak ID checks enable proxy candidates and solver gangs to impersonate students.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5943" y="7851143"/>
            <a:ext cx="16935440" cy="1762763"/>
            <a:chOff x="0" y="0"/>
            <a:chExt cx="22580587" cy="23503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580501" cy="2350262"/>
            </a:xfrm>
            <a:custGeom>
              <a:avLst/>
              <a:gdLst/>
              <a:ahLst/>
              <a:cxnLst/>
              <a:rect r="r" b="b" t="t" l="l"/>
              <a:pathLst>
                <a:path h="2350262" w="22580501">
                  <a:moveTo>
                    <a:pt x="0" y="197866"/>
                  </a:moveTo>
                  <a:cubicBezTo>
                    <a:pt x="0" y="88646"/>
                    <a:pt x="87201" y="0"/>
                    <a:pt x="194640" y="0"/>
                  </a:cubicBezTo>
                  <a:lnTo>
                    <a:pt x="22385860" y="0"/>
                  </a:lnTo>
                  <a:cubicBezTo>
                    <a:pt x="22493424" y="0"/>
                    <a:pt x="22580501" y="88646"/>
                    <a:pt x="22580501" y="197866"/>
                  </a:cubicBezTo>
                  <a:lnTo>
                    <a:pt x="22580501" y="2152396"/>
                  </a:lnTo>
                  <a:cubicBezTo>
                    <a:pt x="22580501" y="2261743"/>
                    <a:pt x="22493300" y="2350262"/>
                    <a:pt x="22385860" y="2350262"/>
                  </a:cubicBezTo>
                  <a:lnTo>
                    <a:pt x="194640" y="2350262"/>
                  </a:lnTo>
                  <a:cubicBezTo>
                    <a:pt x="87201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05182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41045" y="8083296"/>
            <a:ext cx="914400" cy="914400"/>
            <a:chOff x="0" y="0"/>
            <a:chExt cx="1219200" cy="121920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828800" y="7875899"/>
            <a:ext cx="15544800" cy="1463040"/>
            <a:chOff x="0" y="0"/>
            <a:chExt cx="20726400" cy="1950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07264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EDF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HOPE OS SOLUTION:  100% offline, Wayland kiosk compositor, PAM authentication, dual-layer ChaCha20/AES-256 encryption, RSA-4096 response hardening, and full OS-level privilege lockdown — the absolute local-lockdown alternative.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ARCHITECTURE ECOSYSTEM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Architecture &amp; Environment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456183"/>
            <a:ext cx="9535163" cy="1159259"/>
            <a:chOff x="0" y="0"/>
            <a:chExt cx="12713551" cy="15456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1358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2713589">
                  <a:moveTo>
                    <a:pt x="0" y="174498"/>
                  </a:moveTo>
                  <a:cubicBezTo>
                    <a:pt x="0" y="78105"/>
                    <a:pt x="78105" y="0"/>
                    <a:pt x="174498" y="0"/>
                  </a:cubicBezTo>
                  <a:lnTo>
                    <a:pt x="12539091" y="0"/>
                  </a:lnTo>
                  <a:cubicBezTo>
                    <a:pt x="12635485" y="0"/>
                    <a:pt x="12713589" y="78105"/>
                    <a:pt x="12713589" y="174498"/>
                  </a:cubicBezTo>
                  <a:lnTo>
                    <a:pt x="12713589" y="1371219"/>
                  </a:lnTo>
                  <a:cubicBezTo>
                    <a:pt x="12713589" y="1467612"/>
                    <a:pt x="12635485" y="1545717"/>
                    <a:pt x="12539091" y="1545717"/>
                  </a:cubicBezTo>
                  <a:lnTo>
                    <a:pt x="174498" y="1545717"/>
                  </a:lnTo>
                  <a:cubicBezTo>
                    <a:pt x="78105" y="1545717"/>
                    <a:pt x="0" y="1467485"/>
                    <a:pt x="0" y="1371219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2456183"/>
            <a:ext cx="244859" cy="1159259"/>
            <a:chOff x="0" y="0"/>
            <a:chExt cx="326479" cy="15456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65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2560320"/>
            <a:ext cx="8961120" cy="478780"/>
            <a:chOff x="0" y="0"/>
            <a:chExt cx="11948160" cy="6383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48160" cy="638373"/>
            </a:xfrm>
            <a:custGeom>
              <a:avLst/>
              <a:gdLst/>
              <a:ahLst/>
              <a:cxnLst/>
              <a:rect r="r" b="b" t="t" l="l"/>
              <a:pathLst>
                <a:path h="638373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46" r="0" b="-31243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1948160" cy="647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 Linux (Base OS)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" y="3017520"/>
            <a:ext cx="8961120" cy="457200"/>
            <a:chOff x="0" y="0"/>
            <a:chExt cx="1194816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948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Minimal, rolling-release, fully controllable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8823" y="3827783"/>
            <a:ext cx="9535163" cy="1159259"/>
            <a:chOff x="0" y="0"/>
            <a:chExt cx="12713551" cy="15456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1358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2713589">
                  <a:moveTo>
                    <a:pt x="0" y="174498"/>
                  </a:moveTo>
                  <a:cubicBezTo>
                    <a:pt x="0" y="78105"/>
                    <a:pt x="78105" y="0"/>
                    <a:pt x="174498" y="0"/>
                  </a:cubicBezTo>
                  <a:lnTo>
                    <a:pt x="12539091" y="0"/>
                  </a:lnTo>
                  <a:cubicBezTo>
                    <a:pt x="12635485" y="0"/>
                    <a:pt x="12713589" y="78105"/>
                    <a:pt x="12713589" y="174498"/>
                  </a:cubicBezTo>
                  <a:lnTo>
                    <a:pt x="12713589" y="1371219"/>
                  </a:lnTo>
                  <a:cubicBezTo>
                    <a:pt x="12713589" y="1467612"/>
                    <a:pt x="12635485" y="1545717"/>
                    <a:pt x="12539091" y="1545717"/>
                  </a:cubicBezTo>
                  <a:lnTo>
                    <a:pt x="174498" y="1545717"/>
                  </a:lnTo>
                  <a:cubicBezTo>
                    <a:pt x="78105" y="1545717"/>
                    <a:pt x="0" y="1467485"/>
                    <a:pt x="0" y="1371219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3827783"/>
            <a:ext cx="244859" cy="1159259"/>
            <a:chOff x="0" y="0"/>
            <a:chExt cx="326479" cy="1545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65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" y="3931920"/>
            <a:ext cx="8961120" cy="478780"/>
            <a:chOff x="0" y="0"/>
            <a:chExt cx="11948160" cy="6383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948160" cy="638373"/>
            </a:xfrm>
            <a:custGeom>
              <a:avLst/>
              <a:gdLst/>
              <a:ahLst/>
              <a:cxnLst/>
              <a:rect r="r" b="b" t="t" l="l"/>
              <a:pathLst>
                <a:path h="638373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46" r="0" b="-3124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1948160" cy="647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AppArmor + iptables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4389120"/>
            <a:ext cx="8961120" cy="457200"/>
            <a:chOff x="0" y="0"/>
            <a:chExt cx="1194816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1948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Mandatory Access Control + hard network firewall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18823" y="5199383"/>
            <a:ext cx="9535163" cy="1159259"/>
            <a:chOff x="0" y="0"/>
            <a:chExt cx="12713551" cy="15456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1358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2713589">
                  <a:moveTo>
                    <a:pt x="0" y="174498"/>
                  </a:moveTo>
                  <a:cubicBezTo>
                    <a:pt x="0" y="78105"/>
                    <a:pt x="78105" y="0"/>
                    <a:pt x="174498" y="0"/>
                  </a:cubicBezTo>
                  <a:lnTo>
                    <a:pt x="12539091" y="0"/>
                  </a:lnTo>
                  <a:cubicBezTo>
                    <a:pt x="12635485" y="0"/>
                    <a:pt x="12713589" y="78105"/>
                    <a:pt x="12713589" y="174498"/>
                  </a:cubicBezTo>
                  <a:lnTo>
                    <a:pt x="12713589" y="1371219"/>
                  </a:lnTo>
                  <a:cubicBezTo>
                    <a:pt x="12713589" y="1467612"/>
                    <a:pt x="12635485" y="1545717"/>
                    <a:pt x="12539091" y="1545717"/>
                  </a:cubicBezTo>
                  <a:lnTo>
                    <a:pt x="174498" y="1545717"/>
                  </a:lnTo>
                  <a:cubicBezTo>
                    <a:pt x="78105" y="1545717"/>
                    <a:pt x="0" y="1467485"/>
                    <a:pt x="0" y="1371219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18823" y="5199383"/>
            <a:ext cx="244859" cy="1159259"/>
            <a:chOff x="0" y="0"/>
            <a:chExt cx="326479" cy="15456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88720" y="5303520"/>
            <a:ext cx="8961120" cy="478780"/>
            <a:chOff x="0" y="0"/>
            <a:chExt cx="11948160" cy="6383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948160" cy="638373"/>
            </a:xfrm>
            <a:custGeom>
              <a:avLst/>
              <a:gdLst/>
              <a:ahLst/>
              <a:cxnLst/>
              <a:rect r="r" b="b" t="t" l="l"/>
              <a:pathLst>
                <a:path h="638373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46" r="0" b="-31243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1948160" cy="647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cage (Wayland Kiosk)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5760720"/>
            <a:ext cx="8961120" cy="457200"/>
            <a:chOff x="0" y="0"/>
            <a:chExt cx="1194816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1948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Single-app compositor, zero desktop, no taskbar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6570983"/>
            <a:ext cx="9535163" cy="1159259"/>
            <a:chOff x="0" y="0"/>
            <a:chExt cx="12713551" cy="15456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1358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2713589">
                  <a:moveTo>
                    <a:pt x="0" y="174498"/>
                  </a:moveTo>
                  <a:cubicBezTo>
                    <a:pt x="0" y="78105"/>
                    <a:pt x="78105" y="0"/>
                    <a:pt x="174498" y="0"/>
                  </a:cubicBezTo>
                  <a:lnTo>
                    <a:pt x="12539091" y="0"/>
                  </a:lnTo>
                  <a:cubicBezTo>
                    <a:pt x="12635485" y="0"/>
                    <a:pt x="12713589" y="78105"/>
                    <a:pt x="12713589" y="174498"/>
                  </a:cubicBezTo>
                  <a:lnTo>
                    <a:pt x="12713589" y="1371219"/>
                  </a:lnTo>
                  <a:cubicBezTo>
                    <a:pt x="12713589" y="1467612"/>
                    <a:pt x="12635485" y="1545717"/>
                    <a:pt x="12539091" y="1545717"/>
                  </a:cubicBezTo>
                  <a:lnTo>
                    <a:pt x="174498" y="1545717"/>
                  </a:lnTo>
                  <a:cubicBezTo>
                    <a:pt x="78105" y="1545717"/>
                    <a:pt x="0" y="1467485"/>
                    <a:pt x="0" y="1371219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8823" y="6570983"/>
            <a:ext cx="244859" cy="1159259"/>
            <a:chOff x="0" y="0"/>
            <a:chExt cx="326479" cy="154567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65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" y="6675120"/>
            <a:ext cx="8961120" cy="478780"/>
            <a:chOff x="0" y="0"/>
            <a:chExt cx="11948160" cy="6383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48160" cy="638373"/>
            </a:xfrm>
            <a:custGeom>
              <a:avLst/>
              <a:gdLst/>
              <a:ahLst/>
              <a:cxnLst/>
              <a:rect r="r" b="b" t="t" l="l"/>
              <a:pathLst>
                <a:path h="638373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46" r="0" b="-31243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1948160" cy="647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 3.11+ / PyGObject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" y="7132320"/>
            <a:ext cx="8961120" cy="457200"/>
            <a:chOff x="0" y="0"/>
            <a:chExt cx="1194816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1948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runtime with GTK4 widget toolkit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18823" y="7942583"/>
            <a:ext cx="9535163" cy="1159259"/>
            <a:chOff x="0" y="0"/>
            <a:chExt cx="12713551" cy="154567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71358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2713589">
                  <a:moveTo>
                    <a:pt x="0" y="174498"/>
                  </a:moveTo>
                  <a:cubicBezTo>
                    <a:pt x="0" y="78105"/>
                    <a:pt x="78105" y="0"/>
                    <a:pt x="174498" y="0"/>
                  </a:cubicBezTo>
                  <a:lnTo>
                    <a:pt x="12539091" y="0"/>
                  </a:lnTo>
                  <a:cubicBezTo>
                    <a:pt x="12635485" y="0"/>
                    <a:pt x="12713589" y="78105"/>
                    <a:pt x="12713589" y="174498"/>
                  </a:cubicBezTo>
                  <a:lnTo>
                    <a:pt x="12713589" y="1371219"/>
                  </a:lnTo>
                  <a:cubicBezTo>
                    <a:pt x="12713589" y="1467612"/>
                    <a:pt x="12635485" y="1545717"/>
                    <a:pt x="12539091" y="1545717"/>
                  </a:cubicBezTo>
                  <a:lnTo>
                    <a:pt x="174498" y="1545717"/>
                  </a:lnTo>
                  <a:cubicBezTo>
                    <a:pt x="78105" y="1545717"/>
                    <a:pt x="0" y="1467485"/>
                    <a:pt x="0" y="1371219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18823" y="7942583"/>
            <a:ext cx="244859" cy="1159259"/>
            <a:chOff x="0" y="0"/>
            <a:chExt cx="326479" cy="15456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65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88720" y="8046720"/>
            <a:ext cx="8961120" cy="478780"/>
            <a:chOff x="0" y="0"/>
            <a:chExt cx="11948160" cy="63837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948160" cy="638373"/>
            </a:xfrm>
            <a:custGeom>
              <a:avLst/>
              <a:gdLst/>
              <a:ahLst/>
              <a:cxnLst/>
              <a:rect r="r" b="b" t="t" l="l"/>
              <a:pathLst>
                <a:path h="638373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46" r="0" b="-31243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1948160" cy="647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GTK4 Application Layer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8503920"/>
            <a:ext cx="8961120" cy="457200"/>
            <a:chOff x="0" y="0"/>
            <a:chExt cx="11948160" cy="609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1948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4-screen exam UI: Login → Briefing → Exam → Submit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783572" y="2105916"/>
            <a:ext cx="6962137" cy="7053577"/>
            <a:chOff x="0" y="0"/>
            <a:chExt cx="9282849" cy="940476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82938" cy="9404858"/>
            </a:xfrm>
            <a:custGeom>
              <a:avLst/>
              <a:gdLst/>
              <a:ahLst/>
              <a:cxnLst/>
              <a:rect r="r" b="b" t="t" l="l"/>
              <a:pathLst>
                <a:path h="9404858" w="9282938">
                  <a:moveTo>
                    <a:pt x="0" y="244348"/>
                  </a:moveTo>
                  <a:cubicBezTo>
                    <a:pt x="0" y="109347"/>
                    <a:pt x="109347" y="0"/>
                    <a:pt x="244348" y="0"/>
                  </a:cubicBezTo>
                  <a:lnTo>
                    <a:pt x="9038590" y="0"/>
                  </a:lnTo>
                  <a:cubicBezTo>
                    <a:pt x="9173464" y="0"/>
                    <a:pt x="9282938" y="109347"/>
                    <a:pt x="9282938" y="244348"/>
                  </a:cubicBezTo>
                  <a:lnTo>
                    <a:pt x="9282938" y="9160510"/>
                  </a:lnTo>
                  <a:cubicBezTo>
                    <a:pt x="9282938" y="9295384"/>
                    <a:pt x="9173591" y="9404858"/>
                    <a:pt x="9038590" y="9404858"/>
                  </a:cubicBezTo>
                  <a:lnTo>
                    <a:pt x="244348" y="9404858"/>
                  </a:lnTo>
                  <a:cubicBezTo>
                    <a:pt x="109347" y="9404731"/>
                    <a:pt x="0" y="9295384"/>
                    <a:pt x="0" y="9160510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155680" y="2743200"/>
            <a:ext cx="6217920" cy="640080"/>
            <a:chOff x="0" y="0"/>
            <a:chExt cx="829056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90560" cy="853440"/>
            </a:xfrm>
            <a:custGeom>
              <a:avLst/>
              <a:gdLst/>
              <a:ahLst/>
              <a:cxnLst/>
              <a:rect r="r" b="b" t="t" l="l"/>
              <a:pathLst>
                <a:path h="8534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29056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KIOSK CONSTRAINTS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155680" y="3566160"/>
            <a:ext cx="402336" cy="402336"/>
            <a:chOff x="0" y="0"/>
            <a:chExt cx="536448" cy="536448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704320" y="3566160"/>
            <a:ext cx="5669280" cy="512064"/>
            <a:chOff x="0" y="0"/>
            <a:chExt cx="755904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desktop environment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55680" y="4187952"/>
            <a:ext cx="402336" cy="402336"/>
            <a:chOff x="0" y="0"/>
            <a:chExt cx="536448" cy="536448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704320" y="4187952"/>
            <a:ext cx="5669280" cy="512064"/>
            <a:chOff x="0" y="0"/>
            <a:chExt cx="755904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window decorations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155680" y="4809744"/>
            <a:ext cx="402336" cy="402336"/>
            <a:chOff x="0" y="0"/>
            <a:chExt cx="536448" cy="536448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704320" y="4809744"/>
            <a:ext cx="5669280" cy="512064"/>
            <a:chOff x="0" y="0"/>
            <a:chExt cx="755904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taskbar or dock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155680" y="5431536"/>
            <a:ext cx="402336" cy="402336"/>
            <a:chOff x="0" y="0"/>
            <a:chExt cx="536448" cy="536448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704320" y="5431536"/>
            <a:ext cx="5669280" cy="512064"/>
            <a:chOff x="0" y="0"/>
            <a:chExt cx="755904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shell / terminal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155680" y="6053328"/>
            <a:ext cx="402336" cy="402336"/>
            <a:chOff x="0" y="0"/>
            <a:chExt cx="536448" cy="536448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704320" y="6053328"/>
            <a:ext cx="5669280" cy="512064"/>
            <a:chOff x="0" y="0"/>
            <a:chExt cx="755904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TTY switch (Ctrl+Alt+Fn)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155680" y="6675120"/>
            <a:ext cx="402336" cy="402336"/>
            <a:chOff x="0" y="0"/>
            <a:chExt cx="536448" cy="536448"/>
          </a:xfrm>
        </p:grpSpPr>
        <p:sp>
          <p:nvSpPr>
            <p:cNvPr name="Freeform 89" id="8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704320" y="6675120"/>
            <a:ext cx="5669280" cy="512064"/>
            <a:chOff x="0" y="0"/>
            <a:chExt cx="755904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external USB auto-mount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155680" y="7296912"/>
            <a:ext cx="402336" cy="402336"/>
            <a:chOff x="0" y="0"/>
            <a:chExt cx="536448" cy="536448"/>
          </a:xfrm>
        </p:grpSpPr>
        <p:sp>
          <p:nvSpPr>
            <p:cNvPr name="Freeform 94" id="94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704320" y="7296912"/>
            <a:ext cx="5669280" cy="512064"/>
            <a:chOff x="0" y="0"/>
            <a:chExt cx="755904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NetworkManager daemon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155680" y="7918704"/>
            <a:ext cx="402336" cy="402336"/>
            <a:chOff x="0" y="0"/>
            <a:chExt cx="536448" cy="536448"/>
          </a:xfrm>
        </p:grpSpPr>
        <p:sp>
          <p:nvSpPr>
            <p:cNvPr name="Freeform 99" id="9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704320" y="7918704"/>
            <a:ext cx="5669280" cy="512064"/>
            <a:chOff x="0" y="0"/>
            <a:chExt cx="755904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75590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cage runs single GTK4 app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31520" y="9418320"/>
            <a:ext cx="16824960" cy="640080"/>
            <a:chOff x="0" y="0"/>
            <a:chExt cx="22433280" cy="853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224332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cage compositor ensures HOPE OS boots directly into a single-application Wayland session with zero escape paths.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3222821" y="-1890522"/>
            <a:ext cx="5657850" cy="5657850"/>
            <a:chOff x="0" y="0"/>
            <a:chExt cx="812800" cy="8128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63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490085" y="4536484"/>
            <a:ext cx="7315200" cy="2952681"/>
          </a:xfrm>
          <a:custGeom>
            <a:avLst/>
            <a:gdLst/>
            <a:ahLst/>
            <a:cxnLst/>
            <a:rect r="r" b="b" t="t" l="l"/>
            <a:pathLst>
              <a:path h="2952681" w="7315200">
                <a:moveTo>
                  <a:pt x="0" y="0"/>
                </a:moveTo>
                <a:lnTo>
                  <a:pt x="7315200" y="0"/>
                </a:lnTo>
                <a:lnTo>
                  <a:pt x="7315200" y="2952681"/>
                </a:lnTo>
                <a:lnTo>
                  <a:pt x="0" y="29526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789233" y="3247594"/>
            <a:ext cx="7315200" cy="2952681"/>
          </a:xfrm>
          <a:custGeom>
            <a:avLst/>
            <a:gdLst/>
            <a:ahLst/>
            <a:cxnLst/>
            <a:rect r="r" b="b" t="t" l="l"/>
            <a:pathLst>
              <a:path h="2952681" w="7315200">
                <a:moveTo>
                  <a:pt x="0" y="0"/>
                </a:moveTo>
                <a:lnTo>
                  <a:pt x="7315200" y="0"/>
                </a:lnTo>
                <a:lnTo>
                  <a:pt x="7315200" y="2952681"/>
                </a:lnTo>
                <a:lnTo>
                  <a:pt x="0" y="29526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ZERO-TRUST OFFLINE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Operational Constraints — 100% Offline-First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75397" y="2443477"/>
            <a:ext cx="5537197" cy="5537197"/>
            <a:chOff x="0" y="0"/>
            <a:chExt cx="7382929" cy="738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82891" cy="7382891"/>
            </a:xfrm>
            <a:custGeom>
              <a:avLst/>
              <a:gdLst/>
              <a:ahLst/>
              <a:cxnLst/>
              <a:rect r="r" b="b" t="t" l="l"/>
              <a:pathLst>
                <a:path h="7382891" w="7382891">
                  <a:moveTo>
                    <a:pt x="0" y="3691509"/>
                  </a:moveTo>
                  <a:cubicBezTo>
                    <a:pt x="0" y="1652778"/>
                    <a:pt x="1652778" y="0"/>
                    <a:pt x="3691509" y="0"/>
                  </a:cubicBezTo>
                  <a:cubicBezTo>
                    <a:pt x="5730241" y="0"/>
                    <a:pt x="7382891" y="1652778"/>
                    <a:pt x="7382891" y="3691509"/>
                  </a:cubicBezTo>
                  <a:cubicBezTo>
                    <a:pt x="7382891" y="5730241"/>
                    <a:pt x="5730240" y="7382891"/>
                    <a:pt x="3691509" y="7382891"/>
                  </a:cubicBezTo>
                  <a:cubicBezTo>
                    <a:pt x="1652778" y="7382891"/>
                    <a:pt x="0" y="5730240"/>
                    <a:pt x="0" y="3691509"/>
                  </a:cubicBezTo>
                  <a:close/>
                </a:path>
              </a:pathLst>
            </a:custGeom>
            <a:solidFill>
              <a:srgbClr val="0D1526"/>
            </a:solidFill>
            <a:ln w="508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00800" y="3749040"/>
            <a:ext cx="5486400" cy="2566194"/>
            <a:chOff x="0" y="0"/>
            <a:chExt cx="7315200" cy="3421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3421592"/>
            </a:xfrm>
            <a:custGeom>
              <a:avLst/>
              <a:gdLst/>
              <a:ahLst/>
              <a:cxnLst/>
              <a:rect r="r" b="b" t="t" l="l"/>
              <a:pathLst>
                <a:path h="3421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21592"/>
                  </a:lnTo>
                  <a:lnTo>
                    <a:pt x="0" y="3421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25" r="0" b="227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315200" cy="347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0"/>
                </a:lnSpc>
              </a:pPr>
              <a:r>
                <a:rPr lang="en-US" sz="128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0%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0" y="5486400"/>
            <a:ext cx="5486400" cy="1097280"/>
            <a:chOff x="0" y="0"/>
            <a:chExt cx="731520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3152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INTERNET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DEPENDENCY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2287" y="2462527"/>
            <a:ext cx="5499097" cy="2664457"/>
            <a:chOff x="0" y="0"/>
            <a:chExt cx="7332129" cy="35526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32091" cy="3552571"/>
            </a:xfrm>
            <a:custGeom>
              <a:avLst/>
              <a:gdLst/>
              <a:ahLst/>
              <a:cxnLst/>
              <a:rect r="r" b="b" t="t" l="l"/>
              <a:pathLst>
                <a:path h="3552571" w="73320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136130" y="0"/>
                  </a:lnTo>
                  <a:cubicBezTo>
                    <a:pt x="7244335" y="0"/>
                    <a:pt x="7332091" y="87757"/>
                    <a:pt x="7332091" y="195961"/>
                  </a:cubicBezTo>
                  <a:lnTo>
                    <a:pt x="7332091" y="3356610"/>
                  </a:lnTo>
                  <a:cubicBezTo>
                    <a:pt x="7332091" y="3464814"/>
                    <a:pt x="7244335" y="3552571"/>
                    <a:pt x="7136130" y="3552571"/>
                  </a:cubicBezTo>
                  <a:lnTo>
                    <a:pt x="195961" y="3552571"/>
                  </a:lnTo>
                  <a:cubicBezTo>
                    <a:pt x="87757" y="3552571"/>
                    <a:pt x="0" y="3464814"/>
                    <a:pt x="0" y="3356610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651760"/>
            <a:ext cx="768096" cy="768096"/>
            <a:chOff x="0" y="0"/>
            <a:chExt cx="1024128" cy="102412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28800" y="2651760"/>
            <a:ext cx="4023360" cy="640080"/>
            <a:chOff x="0" y="0"/>
            <a:chExt cx="536448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3644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 WAN Dependency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3383280"/>
            <a:ext cx="4937760" cy="1371600"/>
            <a:chOff x="0" y="0"/>
            <a:chExt cx="658368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58368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 data, authentication, and result storage are entirely local.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2287" y="5480047"/>
            <a:ext cx="5499097" cy="2664457"/>
            <a:chOff x="0" y="0"/>
            <a:chExt cx="7332129" cy="35526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32091" cy="3552571"/>
            </a:xfrm>
            <a:custGeom>
              <a:avLst/>
              <a:gdLst/>
              <a:ahLst/>
              <a:cxnLst/>
              <a:rect r="r" b="b" t="t" l="l"/>
              <a:pathLst>
                <a:path h="3552571" w="73320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136130" y="0"/>
                  </a:lnTo>
                  <a:cubicBezTo>
                    <a:pt x="7244335" y="0"/>
                    <a:pt x="7332091" y="87757"/>
                    <a:pt x="7332091" y="195961"/>
                  </a:cubicBezTo>
                  <a:lnTo>
                    <a:pt x="7332091" y="3356610"/>
                  </a:lnTo>
                  <a:cubicBezTo>
                    <a:pt x="7332091" y="3464814"/>
                    <a:pt x="7244335" y="3552571"/>
                    <a:pt x="7136130" y="3552571"/>
                  </a:cubicBezTo>
                  <a:lnTo>
                    <a:pt x="195961" y="3552571"/>
                  </a:lnTo>
                  <a:cubicBezTo>
                    <a:pt x="87757" y="3552571"/>
                    <a:pt x="0" y="3464814"/>
                    <a:pt x="0" y="3356610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5669280"/>
            <a:ext cx="768096" cy="768096"/>
            <a:chOff x="0" y="0"/>
            <a:chExt cx="1024128" cy="1024128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828800" y="5669280"/>
            <a:ext cx="4023360" cy="640080"/>
            <a:chOff x="0" y="0"/>
            <a:chExt cx="536448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3644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Air-Gapped Operation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6400800"/>
            <a:ext cx="4937760" cy="1371600"/>
            <a:chOff x="0" y="0"/>
            <a:chExt cx="658368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58368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DNS resolution, no routing table, no gateway configuration.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46607" y="2462527"/>
            <a:ext cx="5499097" cy="2664457"/>
            <a:chOff x="0" y="0"/>
            <a:chExt cx="7332129" cy="35526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32091" cy="3552571"/>
            </a:xfrm>
            <a:custGeom>
              <a:avLst/>
              <a:gdLst/>
              <a:ahLst/>
              <a:cxnLst/>
              <a:rect r="r" b="b" t="t" l="l"/>
              <a:pathLst>
                <a:path h="3552571" w="73320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136130" y="0"/>
                  </a:lnTo>
                  <a:cubicBezTo>
                    <a:pt x="7244335" y="0"/>
                    <a:pt x="7332091" y="87757"/>
                    <a:pt x="7332091" y="195961"/>
                  </a:cubicBezTo>
                  <a:lnTo>
                    <a:pt x="7332091" y="3356610"/>
                  </a:lnTo>
                  <a:cubicBezTo>
                    <a:pt x="7332091" y="3464814"/>
                    <a:pt x="7244335" y="3552571"/>
                    <a:pt x="7136130" y="3552571"/>
                  </a:cubicBezTo>
                  <a:lnTo>
                    <a:pt x="195961" y="3552571"/>
                  </a:lnTo>
                  <a:cubicBezTo>
                    <a:pt x="87757" y="3552571"/>
                    <a:pt x="0" y="3464814"/>
                    <a:pt x="0" y="3356610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618720" y="2651760"/>
            <a:ext cx="768096" cy="768096"/>
            <a:chOff x="0" y="0"/>
            <a:chExt cx="1024128" cy="1024128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33120" y="2651760"/>
            <a:ext cx="4023360" cy="640080"/>
            <a:chOff x="0" y="0"/>
            <a:chExt cx="536448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3644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Localized Data Routing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618720" y="3383280"/>
            <a:ext cx="4937760" cy="1371600"/>
            <a:chOff x="0" y="0"/>
            <a:chExt cx="6583680" cy="1828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58368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 I/O paths terminate on-device: RAM for decryption, local SSD for encrypted answers.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46607" y="5480047"/>
            <a:ext cx="5499097" cy="2664457"/>
            <a:chOff x="0" y="0"/>
            <a:chExt cx="7332129" cy="355260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32091" cy="3552571"/>
            </a:xfrm>
            <a:custGeom>
              <a:avLst/>
              <a:gdLst/>
              <a:ahLst/>
              <a:cxnLst/>
              <a:rect r="r" b="b" t="t" l="l"/>
              <a:pathLst>
                <a:path h="3552571" w="733209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136130" y="0"/>
                  </a:lnTo>
                  <a:cubicBezTo>
                    <a:pt x="7244335" y="0"/>
                    <a:pt x="7332091" y="87757"/>
                    <a:pt x="7332091" y="195961"/>
                  </a:cubicBezTo>
                  <a:lnTo>
                    <a:pt x="7332091" y="3356610"/>
                  </a:lnTo>
                  <a:cubicBezTo>
                    <a:pt x="7332091" y="3464814"/>
                    <a:pt x="7244335" y="3552571"/>
                    <a:pt x="7136130" y="3552571"/>
                  </a:cubicBezTo>
                  <a:lnTo>
                    <a:pt x="195961" y="3552571"/>
                  </a:lnTo>
                  <a:cubicBezTo>
                    <a:pt x="87757" y="3552571"/>
                    <a:pt x="0" y="3464814"/>
                    <a:pt x="0" y="3356610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618720" y="5669280"/>
            <a:ext cx="768096" cy="768096"/>
            <a:chOff x="0" y="0"/>
            <a:chExt cx="1024128" cy="1024128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533120" y="5669280"/>
            <a:ext cx="4023360" cy="640080"/>
            <a:chOff x="0" y="0"/>
            <a:chExt cx="536448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3644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External Attack Immunity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618720" y="6400800"/>
            <a:ext cx="4937760" cy="1371600"/>
            <a:chOff x="0" y="0"/>
            <a:chExt cx="6583680" cy="182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3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658368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iptables drops all TCP/UDP. No socket, no API call, no DNS — attack surface is zero.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42287" y="8863327"/>
            <a:ext cx="17203417" cy="927097"/>
            <a:chOff x="0" y="0"/>
            <a:chExt cx="22937889" cy="123612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937978" cy="1236218"/>
            </a:xfrm>
            <a:custGeom>
              <a:avLst/>
              <a:gdLst/>
              <a:ahLst/>
              <a:cxnLst/>
              <a:rect r="r" b="b" t="t" l="l"/>
              <a:pathLst>
                <a:path h="1236218" w="22937978">
                  <a:moveTo>
                    <a:pt x="0" y="173101"/>
                  </a:moveTo>
                  <a:cubicBezTo>
                    <a:pt x="0" y="77470"/>
                    <a:pt x="77470" y="0"/>
                    <a:pt x="173101" y="0"/>
                  </a:cubicBezTo>
                  <a:lnTo>
                    <a:pt x="22764877" y="0"/>
                  </a:lnTo>
                  <a:cubicBezTo>
                    <a:pt x="22860508" y="0"/>
                    <a:pt x="22937978" y="77470"/>
                    <a:pt x="22937978" y="173101"/>
                  </a:cubicBezTo>
                  <a:lnTo>
                    <a:pt x="22937978" y="1063117"/>
                  </a:lnTo>
                  <a:cubicBezTo>
                    <a:pt x="22937978" y="1158748"/>
                    <a:pt x="22860508" y="1236218"/>
                    <a:pt x="22764877" y="1236218"/>
                  </a:cubicBezTo>
                  <a:lnTo>
                    <a:pt x="173101" y="1236218"/>
                  </a:lnTo>
                  <a:cubicBezTo>
                    <a:pt x="77470" y="1236091"/>
                    <a:pt x="0" y="1158621"/>
                    <a:pt x="0" y="1063117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14400" y="8961120"/>
            <a:ext cx="16459200" cy="694944"/>
            <a:chOff x="0" y="0"/>
            <a:chExt cx="2194560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194560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 systemctl disable NetworkManager bluetooth &amp;&amp; iptables -P INPUT DROP &amp;&amp; iptables -P OUTPUT DROP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40844" y="-910048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0"/>
                </a:moveTo>
                <a:lnTo>
                  <a:pt x="9274740" y="0"/>
                </a:lnTo>
                <a:lnTo>
                  <a:pt x="9274740" y="7605287"/>
                </a:lnTo>
                <a:lnTo>
                  <a:pt x="0" y="760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608670" y="-710711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7605287"/>
                </a:moveTo>
                <a:lnTo>
                  <a:pt x="9274740" y="7605287"/>
                </a:lnTo>
                <a:lnTo>
                  <a:pt x="9274740" y="0"/>
                </a:lnTo>
                <a:lnTo>
                  <a:pt x="0" y="0"/>
                </a:lnTo>
                <a:lnTo>
                  <a:pt x="0" y="7605287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218604" y="6390415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7605287"/>
                </a:moveTo>
                <a:lnTo>
                  <a:pt x="9274740" y="7605287"/>
                </a:lnTo>
                <a:lnTo>
                  <a:pt x="9274740" y="0"/>
                </a:lnTo>
                <a:lnTo>
                  <a:pt x="0" y="0"/>
                </a:lnTo>
                <a:lnTo>
                  <a:pt x="0" y="760528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18604" y="6390415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0"/>
                </a:moveTo>
                <a:lnTo>
                  <a:pt x="9274740" y="0"/>
                </a:lnTo>
                <a:lnTo>
                  <a:pt x="9274740" y="7605287"/>
                </a:lnTo>
                <a:lnTo>
                  <a:pt x="0" y="760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621930" y="3475980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7605288"/>
                </a:moveTo>
                <a:lnTo>
                  <a:pt x="9274740" y="7605288"/>
                </a:lnTo>
                <a:lnTo>
                  <a:pt x="9274740" y="0"/>
                </a:lnTo>
                <a:lnTo>
                  <a:pt x="0" y="0"/>
                </a:lnTo>
                <a:lnTo>
                  <a:pt x="0" y="7605288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02357" y="3896604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0"/>
                </a:moveTo>
                <a:lnTo>
                  <a:pt x="9274740" y="0"/>
                </a:lnTo>
                <a:lnTo>
                  <a:pt x="9274740" y="7605288"/>
                </a:lnTo>
                <a:lnTo>
                  <a:pt x="0" y="7605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21930" y="-1901401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0"/>
                </a:moveTo>
                <a:lnTo>
                  <a:pt x="9274740" y="0"/>
                </a:lnTo>
                <a:lnTo>
                  <a:pt x="9274740" y="7605287"/>
                </a:lnTo>
                <a:lnTo>
                  <a:pt x="0" y="760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2621930" y="-2979478"/>
            <a:ext cx="9274740" cy="7605287"/>
          </a:xfrm>
          <a:custGeom>
            <a:avLst/>
            <a:gdLst/>
            <a:ahLst/>
            <a:cxnLst/>
            <a:rect r="r" b="b" t="t" l="l"/>
            <a:pathLst>
              <a:path h="7605287" w="9274740">
                <a:moveTo>
                  <a:pt x="0" y="7605287"/>
                </a:moveTo>
                <a:lnTo>
                  <a:pt x="9274740" y="7605287"/>
                </a:lnTo>
                <a:lnTo>
                  <a:pt x="9274740" y="0"/>
                </a:lnTo>
                <a:lnTo>
                  <a:pt x="0" y="0"/>
                </a:lnTo>
                <a:lnTo>
                  <a:pt x="0" y="7605287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TERMINAL-INSPIRED USER INTERFACE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UI/UX Design System &amp; Visual Token Architecture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2287" y="2371087"/>
            <a:ext cx="3121657" cy="1841497"/>
            <a:chOff x="0" y="0"/>
            <a:chExt cx="4162209" cy="24553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62298" cy="2455418"/>
            </a:xfrm>
            <a:custGeom>
              <a:avLst/>
              <a:gdLst/>
              <a:ahLst/>
              <a:cxnLst/>
              <a:rect r="r" b="b" t="t" l="l"/>
              <a:pathLst>
                <a:path h="2455418" w="4162298">
                  <a:moveTo>
                    <a:pt x="0" y="196469"/>
                  </a:moveTo>
                  <a:cubicBezTo>
                    <a:pt x="0" y="87884"/>
                    <a:pt x="87884" y="0"/>
                    <a:pt x="196469" y="0"/>
                  </a:cubicBezTo>
                  <a:lnTo>
                    <a:pt x="3965829" y="0"/>
                  </a:lnTo>
                  <a:cubicBezTo>
                    <a:pt x="4074287" y="0"/>
                    <a:pt x="4162298" y="87884"/>
                    <a:pt x="4162298" y="196469"/>
                  </a:cubicBezTo>
                  <a:lnTo>
                    <a:pt x="4162298" y="2258949"/>
                  </a:lnTo>
                  <a:cubicBezTo>
                    <a:pt x="4162298" y="2367407"/>
                    <a:pt x="4074414" y="2455418"/>
                    <a:pt x="3965829" y="2455418"/>
                  </a:cubicBezTo>
                  <a:lnTo>
                    <a:pt x="196469" y="2455418"/>
                  </a:lnTo>
                  <a:cubicBezTo>
                    <a:pt x="87884" y="2455291"/>
                    <a:pt x="0" y="2367407"/>
                    <a:pt x="0" y="2258949"/>
                  </a:cubicBezTo>
                  <a:close/>
                </a:path>
              </a:pathLst>
            </a:custGeom>
            <a:solidFill>
              <a:srgbClr val="0A0F1E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4297680"/>
            <a:ext cx="3108960" cy="512064"/>
            <a:chOff x="0" y="0"/>
            <a:chExt cx="414528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145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#0A0F1E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8640" y="4754880"/>
            <a:ext cx="3108960" cy="475488"/>
            <a:chOff x="0" y="0"/>
            <a:chExt cx="4145280" cy="6339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1452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Deep Navy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8640" y="5175504"/>
            <a:ext cx="3108960" cy="438912"/>
            <a:chOff x="0" y="0"/>
            <a:chExt cx="414528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1452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--bg-primary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8640" y="5577840"/>
            <a:ext cx="3108960" cy="548640"/>
            <a:chOff x="0" y="0"/>
            <a:chExt cx="41452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 slide background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80431" y="2371087"/>
            <a:ext cx="3121657" cy="1841497"/>
            <a:chOff x="0" y="0"/>
            <a:chExt cx="4162209" cy="24553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62298" cy="2455418"/>
            </a:xfrm>
            <a:custGeom>
              <a:avLst/>
              <a:gdLst/>
              <a:ahLst/>
              <a:cxnLst/>
              <a:rect r="r" b="b" t="t" l="l"/>
              <a:pathLst>
                <a:path h="2455418" w="4162298">
                  <a:moveTo>
                    <a:pt x="0" y="196469"/>
                  </a:moveTo>
                  <a:cubicBezTo>
                    <a:pt x="0" y="87884"/>
                    <a:pt x="87884" y="0"/>
                    <a:pt x="196469" y="0"/>
                  </a:cubicBezTo>
                  <a:lnTo>
                    <a:pt x="3965829" y="0"/>
                  </a:lnTo>
                  <a:cubicBezTo>
                    <a:pt x="4074287" y="0"/>
                    <a:pt x="4162298" y="87884"/>
                    <a:pt x="4162298" y="196469"/>
                  </a:cubicBezTo>
                  <a:lnTo>
                    <a:pt x="4162298" y="2258949"/>
                  </a:lnTo>
                  <a:cubicBezTo>
                    <a:pt x="4162298" y="2367407"/>
                    <a:pt x="4074414" y="2455418"/>
                    <a:pt x="3965829" y="2455418"/>
                  </a:cubicBezTo>
                  <a:lnTo>
                    <a:pt x="196469" y="2455418"/>
                  </a:lnTo>
                  <a:cubicBezTo>
                    <a:pt x="87884" y="2455291"/>
                    <a:pt x="0" y="2367407"/>
                    <a:pt x="0" y="225894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986784" y="4297680"/>
            <a:ext cx="3108960" cy="512064"/>
            <a:chOff x="0" y="0"/>
            <a:chExt cx="414528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145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#050A12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986784" y="4754880"/>
            <a:ext cx="3108960" cy="475488"/>
            <a:chOff x="0" y="0"/>
            <a:chExt cx="414528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1452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Dark Panel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986784" y="5175504"/>
            <a:ext cx="3108960" cy="438912"/>
            <a:chOff x="0" y="0"/>
            <a:chExt cx="414528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1452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--bg-panel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986784" y="5577840"/>
            <a:ext cx="3108960" cy="548640"/>
            <a:chOff x="0" y="0"/>
            <a:chExt cx="414528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Header &amp; sidebar panels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18575" y="2371087"/>
            <a:ext cx="3121657" cy="1841497"/>
            <a:chOff x="0" y="0"/>
            <a:chExt cx="4162209" cy="24553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62298" cy="2455418"/>
            </a:xfrm>
            <a:custGeom>
              <a:avLst/>
              <a:gdLst/>
              <a:ahLst/>
              <a:cxnLst/>
              <a:rect r="r" b="b" t="t" l="l"/>
              <a:pathLst>
                <a:path h="2455418" w="4162298">
                  <a:moveTo>
                    <a:pt x="0" y="196469"/>
                  </a:moveTo>
                  <a:cubicBezTo>
                    <a:pt x="0" y="87884"/>
                    <a:pt x="87884" y="0"/>
                    <a:pt x="196469" y="0"/>
                  </a:cubicBezTo>
                  <a:lnTo>
                    <a:pt x="3965829" y="0"/>
                  </a:lnTo>
                  <a:cubicBezTo>
                    <a:pt x="4074287" y="0"/>
                    <a:pt x="4162298" y="87884"/>
                    <a:pt x="4162298" y="196469"/>
                  </a:cubicBezTo>
                  <a:lnTo>
                    <a:pt x="4162298" y="2258949"/>
                  </a:lnTo>
                  <a:cubicBezTo>
                    <a:pt x="4162298" y="2367407"/>
                    <a:pt x="4074414" y="2455418"/>
                    <a:pt x="3965829" y="2455418"/>
                  </a:cubicBezTo>
                  <a:lnTo>
                    <a:pt x="196469" y="2455418"/>
                  </a:lnTo>
                  <a:cubicBezTo>
                    <a:pt x="87884" y="2455291"/>
                    <a:pt x="0" y="2367407"/>
                    <a:pt x="0" y="2258949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424928" y="4297680"/>
            <a:ext cx="3108960" cy="512064"/>
            <a:chOff x="0" y="0"/>
            <a:chExt cx="414528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145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#0D1526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424928" y="4754880"/>
            <a:ext cx="3108960" cy="475488"/>
            <a:chOff x="0" y="0"/>
            <a:chExt cx="4145280" cy="6339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1452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Card BG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424928" y="5175504"/>
            <a:ext cx="3108960" cy="438912"/>
            <a:chOff x="0" y="0"/>
            <a:chExt cx="414528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1452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--bg-card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424928" y="5577840"/>
            <a:ext cx="3108960" cy="548640"/>
            <a:chOff x="0" y="0"/>
            <a:chExt cx="41452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Content card surfaces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856719" y="2371087"/>
            <a:ext cx="3121657" cy="1841497"/>
            <a:chOff x="0" y="0"/>
            <a:chExt cx="4162209" cy="245532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62298" cy="2455418"/>
            </a:xfrm>
            <a:custGeom>
              <a:avLst/>
              <a:gdLst/>
              <a:ahLst/>
              <a:cxnLst/>
              <a:rect r="r" b="b" t="t" l="l"/>
              <a:pathLst>
                <a:path h="2455418" w="4162298">
                  <a:moveTo>
                    <a:pt x="0" y="196469"/>
                  </a:moveTo>
                  <a:cubicBezTo>
                    <a:pt x="0" y="87884"/>
                    <a:pt x="87884" y="0"/>
                    <a:pt x="196469" y="0"/>
                  </a:cubicBezTo>
                  <a:lnTo>
                    <a:pt x="3965829" y="0"/>
                  </a:lnTo>
                  <a:cubicBezTo>
                    <a:pt x="4074287" y="0"/>
                    <a:pt x="4162298" y="87884"/>
                    <a:pt x="4162298" y="196469"/>
                  </a:cubicBezTo>
                  <a:lnTo>
                    <a:pt x="4162298" y="2258949"/>
                  </a:lnTo>
                  <a:cubicBezTo>
                    <a:pt x="4162298" y="2367407"/>
                    <a:pt x="4074414" y="2455418"/>
                    <a:pt x="3965829" y="2455418"/>
                  </a:cubicBezTo>
                  <a:lnTo>
                    <a:pt x="196469" y="2455418"/>
                  </a:lnTo>
                  <a:cubicBezTo>
                    <a:pt x="87884" y="2455291"/>
                    <a:pt x="0" y="2367407"/>
                    <a:pt x="0" y="2258949"/>
                  </a:cubicBezTo>
                  <a:close/>
                </a:path>
              </a:pathLst>
            </a:custGeom>
            <a:solidFill>
              <a:srgbClr val="00C8C8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863072" y="4297680"/>
            <a:ext cx="3108960" cy="512064"/>
            <a:chOff x="0" y="0"/>
            <a:chExt cx="414528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145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#00C8C8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863072" y="4754880"/>
            <a:ext cx="3108960" cy="475488"/>
            <a:chOff x="0" y="0"/>
            <a:chExt cx="4145280" cy="6339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1452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Electric Teal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863072" y="5175504"/>
            <a:ext cx="3108960" cy="438912"/>
            <a:chOff x="0" y="0"/>
            <a:chExt cx="4145280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1452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--accent-primary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863072" y="5577840"/>
            <a:ext cx="3108960" cy="548640"/>
            <a:chOff x="0" y="0"/>
            <a:chExt cx="414528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CTAs, borders, icons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294863" y="2371087"/>
            <a:ext cx="3121657" cy="1841497"/>
            <a:chOff x="0" y="0"/>
            <a:chExt cx="4162209" cy="245532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62298" cy="2455418"/>
            </a:xfrm>
            <a:custGeom>
              <a:avLst/>
              <a:gdLst/>
              <a:ahLst/>
              <a:cxnLst/>
              <a:rect r="r" b="b" t="t" l="l"/>
              <a:pathLst>
                <a:path h="2455418" w="4162298">
                  <a:moveTo>
                    <a:pt x="0" y="196469"/>
                  </a:moveTo>
                  <a:cubicBezTo>
                    <a:pt x="0" y="87884"/>
                    <a:pt x="87884" y="0"/>
                    <a:pt x="196469" y="0"/>
                  </a:cubicBezTo>
                  <a:lnTo>
                    <a:pt x="3965829" y="0"/>
                  </a:lnTo>
                  <a:cubicBezTo>
                    <a:pt x="4074287" y="0"/>
                    <a:pt x="4162298" y="87884"/>
                    <a:pt x="4162298" y="196469"/>
                  </a:cubicBezTo>
                  <a:lnTo>
                    <a:pt x="4162298" y="2258949"/>
                  </a:lnTo>
                  <a:cubicBezTo>
                    <a:pt x="4162298" y="2367407"/>
                    <a:pt x="4074414" y="2455418"/>
                    <a:pt x="3965829" y="2455418"/>
                  </a:cubicBezTo>
                  <a:lnTo>
                    <a:pt x="196469" y="2455418"/>
                  </a:lnTo>
                  <a:cubicBezTo>
                    <a:pt x="87884" y="2455291"/>
                    <a:pt x="0" y="2367407"/>
                    <a:pt x="0" y="2258949"/>
                  </a:cubicBezTo>
                  <a:close/>
                </a:path>
              </a:pathLst>
            </a:custGeom>
            <a:solidFill>
              <a:srgbClr val="E8EDF5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301216" y="4297680"/>
            <a:ext cx="3108960" cy="512064"/>
            <a:chOff x="0" y="0"/>
            <a:chExt cx="41452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4145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#E8EDF5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301216" y="4754880"/>
            <a:ext cx="3108960" cy="475488"/>
            <a:chOff x="0" y="0"/>
            <a:chExt cx="4145280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14528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Cold White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301216" y="5175504"/>
            <a:ext cx="3108960" cy="438912"/>
            <a:chOff x="0" y="0"/>
            <a:chExt cx="4145280" cy="585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41452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--text-primary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301216" y="5577840"/>
            <a:ext cx="3108960" cy="548640"/>
            <a:chOff x="0" y="0"/>
            <a:chExt cx="414528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145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 body text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42287" y="6394447"/>
            <a:ext cx="8425177" cy="3304537"/>
            <a:chOff x="0" y="0"/>
            <a:chExt cx="11233569" cy="440604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233658" cy="4406138"/>
            </a:xfrm>
            <a:custGeom>
              <a:avLst/>
              <a:gdLst/>
              <a:ahLst/>
              <a:cxnLst/>
              <a:rect r="r" b="b" t="t" l="l"/>
              <a:pathLst>
                <a:path h="4406138" w="11233658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11037824" y="0"/>
                  </a:lnTo>
                  <a:cubicBezTo>
                    <a:pt x="11145901" y="0"/>
                    <a:pt x="11233658" y="87630"/>
                    <a:pt x="11233658" y="195834"/>
                  </a:cubicBezTo>
                  <a:lnTo>
                    <a:pt x="11233658" y="4210304"/>
                  </a:lnTo>
                  <a:cubicBezTo>
                    <a:pt x="11233658" y="4318381"/>
                    <a:pt x="11146028" y="4406138"/>
                    <a:pt x="11037824" y="4406138"/>
                  </a:cubicBezTo>
                  <a:lnTo>
                    <a:pt x="195834" y="4406138"/>
                  </a:lnTo>
                  <a:cubicBezTo>
                    <a:pt x="87630" y="4406011"/>
                    <a:pt x="0" y="4318381"/>
                    <a:pt x="0" y="421030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14400" y="6620256"/>
            <a:ext cx="7680960" cy="548640"/>
            <a:chOff x="0" y="0"/>
            <a:chExt cx="1024128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102412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DESIGN PHILOSOPHY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14400" y="7278624"/>
            <a:ext cx="7863840" cy="420624"/>
            <a:chOff x="0" y="0"/>
            <a:chExt cx="10485120" cy="56083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48512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285" r="0" b="-31428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0485120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Monospace typography → zero cognitive overhead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14400" y="7717536"/>
            <a:ext cx="7863840" cy="420624"/>
            <a:chOff x="0" y="0"/>
            <a:chExt cx="10485120" cy="56083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48512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285" r="0" b="-31428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10485120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Dark mode → reduces eye strain in exam rooms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14400" y="8156448"/>
            <a:ext cx="7863840" cy="420624"/>
            <a:chOff x="0" y="0"/>
            <a:chExt cx="10485120" cy="56083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48512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285" r="0" b="-31428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10485120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Minimal chrome → eliminates student distractions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14400" y="8595360"/>
            <a:ext cx="7863840" cy="420624"/>
            <a:chOff x="0" y="0"/>
            <a:chExt cx="10485120" cy="56083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48512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285" r="0" b="-31428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10485120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CSS custom theme → loaded via GtkCssProvider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14400" y="9034272"/>
            <a:ext cx="7863840" cy="420624"/>
            <a:chOff x="0" y="0"/>
            <a:chExt cx="10485120" cy="56083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48512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285" r="0" b="-31428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10485120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No animations except 3-strike shake feedback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503407" y="6394447"/>
            <a:ext cx="8242297" cy="3304537"/>
            <a:chOff x="0" y="0"/>
            <a:chExt cx="10989729" cy="440604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89818" cy="4406138"/>
            </a:xfrm>
            <a:custGeom>
              <a:avLst/>
              <a:gdLst/>
              <a:ahLst/>
              <a:cxnLst/>
              <a:rect r="r" b="b" t="t" l="l"/>
              <a:pathLst>
                <a:path h="4406138" w="10989818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10793984" y="0"/>
                  </a:lnTo>
                  <a:cubicBezTo>
                    <a:pt x="10902061" y="0"/>
                    <a:pt x="10989818" y="87630"/>
                    <a:pt x="10989818" y="195834"/>
                  </a:cubicBezTo>
                  <a:lnTo>
                    <a:pt x="10989818" y="4210304"/>
                  </a:lnTo>
                  <a:cubicBezTo>
                    <a:pt x="10989818" y="4318381"/>
                    <a:pt x="10902188" y="4406138"/>
                    <a:pt x="10793984" y="4406138"/>
                  </a:cubicBezTo>
                  <a:lnTo>
                    <a:pt x="195834" y="4406138"/>
                  </a:lnTo>
                  <a:cubicBezTo>
                    <a:pt x="87630" y="4406011"/>
                    <a:pt x="0" y="4318381"/>
                    <a:pt x="0" y="4210304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9784080" y="6547104"/>
            <a:ext cx="7680960" cy="2999232"/>
            <a:chOff x="0" y="0"/>
            <a:chExt cx="10241280" cy="399897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241280" cy="3998976"/>
            </a:xfrm>
            <a:custGeom>
              <a:avLst/>
              <a:gdLst/>
              <a:ahLst/>
              <a:cxnLst/>
              <a:rect r="r" b="b" t="t" l="l"/>
              <a:pathLst>
                <a:path h="399897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998976"/>
                  </a:lnTo>
                  <a:lnTo>
                    <a:pt x="0" y="39989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10241280" cy="4018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/* CSS Design Tokens */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:root {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--bg-primary: #0A0F1E;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--accent: #00C8C8;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--text: #E8EDF5;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font-family: 'JetBrains Mono';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7783" y="1208321"/>
            <a:ext cx="7870359" cy="787035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C2D8">
                    <a:alpha val="41000"/>
                  </a:srgbClr>
                </a:gs>
                <a:gs pos="33333">
                  <a:srgbClr val="22626D">
                    <a:alpha val="41000"/>
                  </a:srgbClr>
                </a:gs>
                <a:gs pos="66667">
                  <a:srgbClr val="131416">
                    <a:alpha val="41000"/>
                  </a:srgbClr>
                </a:gs>
                <a:gs pos="100000">
                  <a:srgbClr val="131416">
                    <a:alpha val="41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63729" y="3059712"/>
            <a:ext cx="5524431" cy="55244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FFE6">
                    <a:alpha val="21000"/>
                  </a:srgbClr>
                </a:gs>
                <a:gs pos="33333">
                  <a:srgbClr val="3A8B7E">
                    <a:alpha val="21000"/>
                  </a:srgbClr>
                </a:gs>
                <a:gs pos="66667">
                  <a:srgbClr val="131416">
                    <a:alpha val="21000"/>
                  </a:srgbClr>
                </a:gs>
                <a:gs pos="100000">
                  <a:srgbClr val="131416">
                    <a:alpha val="21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AUTHENTICATION &amp; KIOSK ACCESS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Screen 1 — LoginView  ·  Secure PAM Authentication Flow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8823" y="2364743"/>
            <a:ext cx="6974843" cy="6791963"/>
            <a:chOff x="0" y="0"/>
            <a:chExt cx="9299791" cy="9055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99702" cy="9055862"/>
            </a:xfrm>
            <a:custGeom>
              <a:avLst/>
              <a:gdLst/>
              <a:ahLst/>
              <a:cxnLst/>
              <a:rect r="r" b="b" t="t" l="l"/>
              <a:pathLst>
                <a:path h="9055862" w="929970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9006078" y="0"/>
                  </a:lnTo>
                  <a:cubicBezTo>
                    <a:pt x="9168257" y="0"/>
                    <a:pt x="9299702" y="131445"/>
                    <a:pt x="9299702" y="293624"/>
                  </a:cubicBezTo>
                  <a:lnTo>
                    <a:pt x="9299702" y="8762238"/>
                  </a:lnTo>
                  <a:cubicBezTo>
                    <a:pt x="9299702" y="8924417"/>
                    <a:pt x="9168257" y="9055862"/>
                    <a:pt x="9006078" y="9055862"/>
                  </a:cubicBezTo>
                  <a:lnTo>
                    <a:pt x="293624" y="9055862"/>
                  </a:lnTo>
                  <a:cubicBezTo>
                    <a:pt x="131445" y="9055989"/>
                    <a:pt x="0" y="8924417"/>
                    <a:pt x="0" y="8762238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560583" y="2562225"/>
            <a:ext cx="914400" cy="914400"/>
            <a:chOff x="0" y="0"/>
            <a:chExt cx="1219200" cy="12192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3579605"/>
            <a:ext cx="6400800" cy="974502"/>
            <a:chOff x="0" y="0"/>
            <a:chExt cx="8534400" cy="1299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34400" cy="1299336"/>
            </a:xfrm>
            <a:custGeom>
              <a:avLst/>
              <a:gdLst/>
              <a:ahLst/>
              <a:cxnLst/>
              <a:rect r="r" b="b" t="t" l="l"/>
              <a:pathLst>
                <a:path h="129933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99336"/>
                  </a:lnTo>
                  <a:lnTo>
                    <a:pt x="0" y="1299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141" r="0" b="-608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534400" cy="1318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HOPE OS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SECURE KIOSK LOGIN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2367" y="4554107"/>
            <a:ext cx="6047737" cy="780793"/>
            <a:chOff x="0" y="0"/>
            <a:chExt cx="8063649" cy="10410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63611" cy="1041019"/>
            </a:xfrm>
            <a:custGeom>
              <a:avLst/>
              <a:gdLst/>
              <a:ahLst/>
              <a:cxnLst/>
              <a:rect r="r" b="b" t="t" l="l"/>
              <a:pathLst>
                <a:path h="1041019" w="8063611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7939659" y="0"/>
                  </a:lnTo>
                  <a:cubicBezTo>
                    <a:pt x="8008112" y="0"/>
                    <a:pt x="8063611" y="55499"/>
                    <a:pt x="8063611" y="123952"/>
                  </a:cubicBezTo>
                  <a:lnTo>
                    <a:pt x="8063611" y="917067"/>
                  </a:lnTo>
                  <a:cubicBezTo>
                    <a:pt x="8063611" y="985520"/>
                    <a:pt x="8008112" y="1041019"/>
                    <a:pt x="7939659" y="1041019"/>
                  </a:cubicBezTo>
                  <a:lnTo>
                    <a:pt x="123952" y="1041019"/>
                  </a:lnTo>
                  <a:cubicBezTo>
                    <a:pt x="55499" y="1041019"/>
                    <a:pt x="0" y="985520"/>
                    <a:pt x="0" y="917067"/>
                  </a:cubicBezTo>
                  <a:close/>
                </a:path>
              </a:pathLst>
            </a:custGeom>
            <a:solidFill>
              <a:srgbClr val="071020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4657087"/>
            <a:ext cx="5669280" cy="536705"/>
            <a:chOff x="0" y="0"/>
            <a:chExt cx="7559040" cy="7156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715607"/>
            </a:xfrm>
            <a:custGeom>
              <a:avLst/>
              <a:gdLst/>
              <a:ahLst/>
              <a:cxnLst/>
              <a:rect r="r" b="b" t="t" l="l"/>
              <a:pathLst>
                <a:path h="715607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15607"/>
                  </a:lnTo>
                  <a:lnTo>
                    <a:pt x="0" y="715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488" r="0" b="-1671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559040" cy="734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exam-kiosk [auto-detected]</a:t>
              </a:r>
              <a:r>
                <a:rPr lang="en-US" sz="22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]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2367" y="5480047"/>
            <a:ext cx="6047737" cy="780793"/>
            <a:chOff x="0" y="0"/>
            <a:chExt cx="8063649" cy="10410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63611" cy="1041019"/>
            </a:xfrm>
            <a:custGeom>
              <a:avLst/>
              <a:gdLst/>
              <a:ahLst/>
              <a:cxnLst/>
              <a:rect r="r" b="b" t="t" l="l"/>
              <a:pathLst>
                <a:path h="1041019" w="8063611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7939659" y="0"/>
                  </a:lnTo>
                  <a:cubicBezTo>
                    <a:pt x="8008112" y="0"/>
                    <a:pt x="8063611" y="55499"/>
                    <a:pt x="8063611" y="123952"/>
                  </a:cubicBezTo>
                  <a:lnTo>
                    <a:pt x="8063611" y="917067"/>
                  </a:lnTo>
                  <a:cubicBezTo>
                    <a:pt x="8063611" y="985520"/>
                    <a:pt x="8008112" y="1041019"/>
                    <a:pt x="7939659" y="1041019"/>
                  </a:cubicBezTo>
                  <a:lnTo>
                    <a:pt x="123952" y="1041019"/>
                  </a:lnTo>
                  <a:cubicBezTo>
                    <a:pt x="55499" y="1041019"/>
                    <a:pt x="0" y="985520"/>
                    <a:pt x="0" y="917067"/>
                  </a:cubicBezTo>
                  <a:close/>
                </a:path>
              </a:pathLst>
            </a:custGeom>
            <a:solidFill>
              <a:srgbClr val="071020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71600" y="5541264"/>
            <a:ext cx="5669280" cy="658368"/>
            <a:chOff x="0" y="0"/>
            <a:chExt cx="7559040" cy="8778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55904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● ● ● ● ● ● ● ●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76023" y="6479543"/>
            <a:ext cx="6060443" cy="848363"/>
            <a:chOff x="0" y="0"/>
            <a:chExt cx="8080591" cy="11311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80628" cy="1131189"/>
            </a:xfrm>
            <a:custGeom>
              <a:avLst/>
              <a:gdLst/>
              <a:ahLst/>
              <a:cxnLst/>
              <a:rect r="r" b="b" t="t" l="l"/>
              <a:pathLst>
                <a:path h="1131189" w="8080628">
                  <a:moveTo>
                    <a:pt x="0" y="176022"/>
                  </a:moveTo>
                  <a:cubicBezTo>
                    <a:pt x="0" y="78740"/>
                    <a:pt x="78740" y="0"/>
                    <a:pt x="176022" y="0"/>
                  </a:cubicBezTo>
                  <a:lnTo>
                    <a:pt x="7904607" y="0"/>
                  </a:lnTo>
                  <a:cubicBezTo>
                    <a:pt x="8001762" y="0"/>
                    <a:pt x="8080628" y="78740"/>
                    <a:pt x="8080628" y="176022"/>
                  </a:cubicBezTo>
                  <a:lnTo>
                    <a:pt x="8080628" y="955167"/>
                  </a:lnTo>
                  <a:cubicBezTo>
                    <a:pt x="8080628" y="1052322"/>
                    <a:pt x="8001888" y="1131189"/>
                    <a:pt x="7904607" y="1131189"/>
                  </a:cubicBezTo>
                  <a:lnTo>
                    <a:pt x="176022" y="1131189"/>
                  </a:lnTo>
                  <a:cubicBezTo>
                    <a:pt x="78740" y="1131189"/>
                    <a:pt x="0" y="1052322"/>
                    <a:pt x="0" y="955167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88720" y="6492240"/>
            <a:ext cx="6035040" cy="822960"/>
            <a:chOff x="0" y="0"/>
            <a:chExt cx="804672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0467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AUTHENTICATE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" y="7498080"/>
            <a:ext cx="6035040" cy="548640"/>
            <a:chOff x="0" y="0"/>
            <a:chExt cx="80467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Strike attempts: ● ● ○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8720" y="7955280"/>
            <a:ext cx="6035040" cy="457200"/>
            <a:chOff x="0" y="0"/>
            <a:chExt cx="804672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46720" cy="609600"/>
            </a:xfrm>
            <a:custGeom>
              <a:avLst/>
              <a:gdLst/>
              <a:ahLst/>
              <a:cxnLst/>
              <a:rect r="r" b="b" t="t" l="l"/>
              <a:pathLst>
                <a:path h="6096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202" r="0" b="-20720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804672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attempt remaining before lockout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3247" y="2371087"/>
            <a:ext cx="9522457" cy="2024377"/>
            <a:chOff x="0" y="0"/>
            <a:chExt cx="12696609" cy="26991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696699" cy="2699258"/>
            </a:xfrm>
            <a:custGeom>
              <a:avLst/>
              <a:gdLst/>
              <a:ahLst/>
              <a:cxnLst/>
              <a:rect r="r" b="b" t="t" l="l"/>
              <a:pathLst>
                <a:path h="2699258" w="1269669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2500356" y="0"/>
                  </a:lnTo>
                  <a:cubicBezTo>
                    <a:pt x="12608814" y="0"/>
                    <a:pt x="12696699" y="87884"/>
                    <a:pt x="12696699" y="196342"/>
                  </a:cubicBezTo>
                  <a:lnTo>
                    <a:pt x="12696699" y="2502916"/>
                  </a:lnTo>
                  <a:cubicBezTo>
                    <a:pt x="12696699" y="2611374"/>
                    <a:pt x="12608814" y="2699258"/>
                    <a:pt x="1250035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503920" y="2560320"/>
            <a:ext cx="694944" cy="694944"/>
            <a:chOff x="0" y="0"/>
            <a:chExt cx="926592" cy="926592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2706624"/>
            <a:ext cx="8046720" cy="548640"/>
            <a:chOff x="0" y="0"/>
            <a:chExt cx="107289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0728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</a:t>
              </a: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-DETECTED USER ID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95360" y="3255264"/>
            <a:ext cx="8961120" cy="1005840"/>
            <a:chOff x="0" y="0"/>
            <a:chExt cx="1194816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948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194816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</a:t>
              </a: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username is automatically loaded</a:t>
              </a:r>
            </a:p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from secure kiosk environment.</a:t>
              </a:r>
            </a:p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Manual correction allowed if required.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3247" y="4657087"/>
            <a:ext cx="9522457" cy="2024377"/>
            <a:chOff x="0" y="0"/>
            <a:chExt cx="12696609" cy="269916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696699" cy="2699258"/>
            </a:xfrm>
            <a:custGeom>
              <a:avLst/>
              <a:gdLst/>
              <a:ahLst/>
              <a:cxnLst/>
              <a:rect r="r" b="b" t="t" l="l"/>
              <a:pathLst>
                <a:path h="2699258" w="1269669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2500356" y="0"/>
                  </a:lnTo>
                  <a:cubicBezTo>
                    <a:pt x="12608814" y="0"/>
                    <a:pt x="12696699" y="87884"/>
                    <a:pt x="12696699" y="196342"/>
                  </a:cubicBezTo>
                  <a:lnTo>
                    <a:pt x="12696699" y="2502916"/>
                  </a:lnTo>
                  <a:cubicBezTo>
                    <a:pt x="12696699" y="2611374"/>
                    <a:pt x="12608814" y="2699258"/>
                    <a:pt x="1250035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503920" y="4846320"/>
            <a:ext cx="694944" cy="694944"/>
            <a:chOff x="0" y="0"/>
            <a:chExt cx="926592" cy="926592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26880" y="4937760"/>
            <a:ext cx="8046720" cy="512064"/>
            <a:chOff x="0" y="0"/>
            <a:chExt cx="107289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622" r="0" b="-25976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07289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 PAM AUTHENTICATION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595360" y="5449824"/>
            <a:ext cx="8961120" cy="1005840"/>
            <a:chOff x="0" y="0"/>
            <a:chExt cx="11948160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948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194816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Password verified through Linux PAM.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external API or internet dependency.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3247" y="6943087"/>
            <a:ext cx="9522457" cy="2024377"/>
            <a:chOff x="0" y="0"/>
            <a:chExt cx="12696609" cy="269916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696699" cy="2699258"/>
            </a:xfrm>
            <a:custGeom>
              <a:avLst/>
              <a:gdLst/>
              <a:ahLst/>
              <a:cxnLst/>
              <a:rect r="r" b="b" t="t" l="l"/>
              <a:pathLst>
                <a:path h="2699258" w="1269669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2500356" y="0"/>
                  </a:lnTo>
                  <a:cubicBezTo>
                    <a:pt x="12608814" y="0"/>
                    <a:pt x="12696699" y="87884"/>
                    <a:pt x="12696699" y="196342"/>
                  </a:cubicBezTo>
                  <a:lnTo>
                    <a:pt x="12696699" y="2502916"/>
                  </a:lnTo>
                  <a:cubicBezTo>
                    <a:pt x="12696699" y="2611374"/>
                    <a:pt x="12608814" y="2699258"/>
                    <a:pt x="1250035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503920" y="7132320"/>
            <a:ext cx="694944" cy="694944"/>
            <a:chOff x="0" y="0"/>
            <a:chExt cx="926592" cy="926592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418320" y="7095744"/>
            <a:ext cx="8046720" cy="840730"/>
            <a:chOff x="0" y="0"/>
            <a:chExt cx="10728960" cy="112097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728960" cy="1120973"/>
            </a:xfrm>
            <a:custGeom>
              <a:avLst/>
              <a:gdLst/>
              <a:ahLst/>
              <a:cxnLst/>
              <a:rect r="r" b="b" t="t" l="l"/>
              <a:pathLst>
                <a:path h="1120973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20973"/>
                  </a:lnTo>
                  <a:lnTo>
                    <a:pt x="0" y="11209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864" r="0" b="-11912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0728960" cy="1130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Af</a:t>
              </a: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ter 3 failed attempts: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Session locked for security review.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595360" y="7772400"/>
            <a:ext cx="8961120" cy="1005840"/>
            <a:chOff x="0" y="0"/>
            <a:chExt cx="11948160" cy="13411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948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194816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failed attempts triggers GTK CSS 'shake' animation on the card and locks the session, requiring admin reset.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31520" y="9509760"/>
            <a:ext cx="16824960" cy="512064"/>
            <a:chOff x="0" y="0"/>
            <a:chExt cx="2243328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2433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GTK4 + P</a:t>
              </a: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ython + PAM Authentication Layer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5106" y="-857238"/>
            <a:ext cx="12557403" cy="1255740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C2D8">
                    <a:alpha val="50000"/>
                  </a:srgbClr>
                </a:gs>
                <a:gs pos="33333">
                  <a:srgbClr val="22626D">
                    <a:alpha val="50000"/>
                  </a:srgbClr>
                </a:gs>
                <a:gs pos="66667">
                  <a:srgbClr val="131416">
                    <a:alpha val="50000"/>
                  </a:srgbClr>
                </a:gs>
                <a:gs pos="100000">
                  <a:srgbClr val="131416">
                    <a:alpha val="5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156077">
            <a:off x="7622519" y="4049228"/>
            <a:ext cx="15477019" cy="15477019"/>
          </a:xfrm>
          <a:custGeom>
            <a:avLst/>
            <a:gdLst/>
            <a:ahLst/>
            <a:cxnLst/>
            <a:rect r="r" b="b" t="t" l="l"/>
            <a:pathLst>
              <a:path h="15477019" w="15477019">
                <a:moveTo>
                  <a:pt x="0" y="0"/>
                </a:moveTo>
                <a:lnTo>
                  <a:pt x="15477019" y="0"/>
                </a:lnTo>
                <a:lnTo>
                  <a:pt x="15477019" y="15477018"/>
                </a:lnTo>
                <a:lnTo>
                  <a:pt x="0" y="154770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MANDATED BRIEFING &amp; AUTOMATED COUNTDOWN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Screen 2 — InstructionsView  ·  Guardrails &amp; Forced Acknowledgment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823" y="2364743"/>
            <a:ext cx="8072123" cy="6609083"/>
            <a:chOff x="0" y="0"/>
            <a:chExt cx="10762831" cy="8812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869" cy="8812150"/>
            </a:xfrm>
            <a:custGeom>
              <a:avLst/>
              <a:gdLst/>
              <a:ahLst/>
              <a:cxnLst/>
              <a:rect r="r" b="b" t="t" l="l"/>
              <a:pathLst>
                <a:path h="8812150" w="10762869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10518013" y="0"/>
                  </a:lnTo>
                  <a:cubicBezTo>
                    <a:pt x="10653268" y="0"/>
                    <a:pt x="10762869" y="109601"/>
                    <a:pt x="10762869" y="244856"/>
                  </a:cubicBezTo>
                  <a:lnTo>
                    <a:pt x="10762869" y="8567293"/>
                  </a:lnTo>
                  <a:cubicBezTo>
                    <a:pt x="10762869" y="8702549"/>
                    <a:pt x="10653268" y="8812150"/>
                    <a:pt x="10518013" y="8812150"/>
                  </a:cubicBezTo>
                  <a:lnTo>
                    <a:pt x="244856" y="8812150"/>
                  </a:lnTo>
                  <a:cubicBezTo>
                    <a:pt x="109601" y="8812149"/>
                    <a:pt x="0" y="8702548"/>
                    <a:pt x="0" y="8567293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596896"/>
            <a:ext cx="7498080" cy="640080"/>
            <a:chOff x="0" y="0"/>
            <a:chExt cx="999744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997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SECURE </a:t>
              </a:r>
              <a:r>
                <a:rPr lang="en-US" sz="26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EXAMINATION RULES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3279143"/>
            <a:ext cx="7706363" cy="80267"/>
            <a:chOff x="0" y="0"/>
            <a:chExt cx="10275151" cy="1070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75189" cy="107061"/>
            </a:xfrm>
            <a:custGeom>
              <a:avLst/>
              <a:gdLst/>
              <a:ahLst/>
              <a:cxnLst/>
              <a:rect r="r" b="b" t="t" l="l"/>
              <a:pathLst>
                <a:path h="107061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438144"/>
            <a:ext cx="7498080" cy="512064"/>
            <a:chOff x="0" y="0"/>
            <a:chExt cx="999744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9974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You must not leave the exam interface.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4023360"/>
            <a:ext cx="7498080" cy="512064"/>
            <a:chOff x="0" y="0"/>
            <a:chExt cx="999744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9974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All responses are auto-saved every 5s.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4608576"/>
            <a:ext cx="7498080" cy="512064"/>
            <a:chOff x="0" y="0"/>
            <a:chExt cx="999744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99974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No internet access is permitted.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5193792"/>
            <a:ext cx="7498080" cy="512064"/>
            <a:chOff x="0" y="0"/>
            <a:chExt cx="999744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9974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 Three login failures will lock the session.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5779008"/>
            <a:ext cx="7498080" cy="512064"/>
            <a:chOff x="0" y="0"/>
            <a:chExt cx="999744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9974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5. Exam starts automatically after 60 seconds.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7280" y="6364224"/>
            <a:ext cx="7498080" cy="512064"/>
            <a:chOff x="0" y="0"/>
            <a:chExt cx="999744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9974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6. Your answers will be encrypted on submit.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6949440"/>
            <a:ext cx="7498080" cy="512064"/>
            <a:chOff x="0" y="0"/>
            <a:chExt cx="999744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99974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7. Encrypted answer file collected through admin USB..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4583" y="7521959"/>
            <a:ext cx="537467" cy="537467"/>
            <a:chOff x="0" y="0"/>
            <a:chExt cx="716623" cy="7166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76835"/>
                  </a:moveTo>
                  <a:cubicBezTo>
                    <a:pt x="0" y="34417"/>
                    <a:pt x="34417" y="0"/>
                    <a:pt x="76835" y="0"/>
                  </a:cubicBezTo>
                  <a:lnTo>
                    <a:pt x="639826" y="0"/>
                  </a:lnTo>
                  <a:cubicBezTo>
                    <a:pt x="682244" y="0"/>
                    <a:pt x="716661" y="34417"/>
                    <a:pt x="716661" y="76835"/>
                  </a:cubicBezTo>
                  <a:lnTo>
                    <a:pt x="716661" y="639826"/>
                  </a:lnTo>
                  <a:cubicBezTo>
                    <a:pt x="716661" y="682244"/>
                    <a:pt x="682244" y="716661"/>
                    <a:pt x="639826" y="716661"/>
                  </a:cubicBezTo>
                  <a:lnTo>
                    <a:pt x="76835" y="716661"/>
                  </a:lnTo>
                  <a:cubicBezTo>
                    <a:pt x="34417" y="716661"/>
                    <a:pt x="0" y="682244"/>
                    <a:pt x="0" y="639826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7534656"/>
            <a:ext cx="512064" cy="512064"/>
            <a:chOff x="0" y="0"/>
            <a:chExt cx="682752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82752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55648" y="7534656"/>
            <a:ext cx="6766560" cy="512064"/>
            <a:chOff x="0" y="0"/>
            <a:chExt cx="902208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0220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EDF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acknowledge all examination rules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84583" y="8216903"/>
            <a:ext cx="7523483" cy="610619"/>
            <a:chOff x="0" y="0"/>
            <a:chExt cx="10031311" cy="8141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31349" cy="814197"/>
            </a:xfrm>
            <a:custGeom>
              <a:avLst/>
              <a:gdLst/>
              <a:ahLst/>
              <a:cxnLst/>
              <a:rect r="r" b="b" t="t" l="l"/>
              <a:pathLst>
                <a:path h="814197" w="10031349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9904095" y="0"/>
                  </a:lnTo>
                  <a:cubicBezTo>
                    <a:pt x="9974326" y="0"/>
                    <a:pt x="10031349" y="56896"/>
                    <a:pt x="10031349" y="127254"/>
                  </a:cubicBezTo>
                  <a:lnTo>
                    <a:pt x="10031349" y="686943"/>
                  </a:lnTo>
                  <a:cubicBezTo>
                    <a:pt x="10031349" y="757174"/>
                    <a:pt x="9974452" y="814197"/>
                    <a:pt x="9904095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050A12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" y="8266176"/>
            <a:ext cx="7315200" cy="512064"/>
            <a:chOff x="0" y="0"/>
            <a:chExt cx="97536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B7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AUTO-BEGIN TIMER ACTIVE: 00:42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0527" y="2371087"/>
            <a:ext cx="8425177" cy="2024377"/>
            <a:chOff x="0" y="0"/>
            <a:chExt cx="11233569" cy="269916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1037316" y="0"/>
                  </a:lnTo>
                  <a:cubicBezTo>
                    <a:pt x="11145774" y="0"/>
                    <a:pt x="11233658" y="87884"/>
                    <a:pt x="11233658" y="196342"/>
                  </a:cubicBezTo>
                  <a:lnTo>
                    <a:pt x="11233658" y="2502916"/>
                  </a:lnTo>
                  <a:cubicBezTo>
                    <a:pt x="11233658" y="2611374"/>
                    <a:pt x="11145774" y="2699258"/>
                    <a:pt x="1103731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01200" y="2560320"/>
            <a:ext cx="694944" cy="694944"/>
            <a:chOff x="0" y="0"/>
            <a:chExt cx="926592" cy="926592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515600" y="2523744"/>
            <a:ext cx="6949440" cy="548640"/>
            <a:chOff x="0" y="0"/>
            <a:chExt cx="926592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9265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Rules Terminal Box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881864" y="3203572"/>
            <a:ext cx="7863840" cy="1005840"/>
            <a:chOff x="0" y="0"/>
            <a:chExt cx="10485120" cy="1341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0485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scrollable GTK TextView widget displays all exam rules in a terminal-styled read-only pane — students cannot modify it.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20527" y="4657087"/>
            <a:ext cx="8425177" cy="2024377"/>
            <a:chOff x="0" y="0"/>
            <a:chExt cx="11233569" cy="269916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1037316" y="0"/>
                  </a:lnTo>
                  <a:cubicBezTo>
                    <a:pt x="11145774" y="0"/>
                    <a:pt x="11233658" y="87884"/>
                    <a:pt x="11233658" y="196342"/>
                  </a:cubicBezTo>
                  <a:lnTo>
                    <a:pt x="11233658" y="2502916"/>
                  </a:lnTo>
                  <a:cubicBezTo>
                    <a:pt x="11233658" y="2611374"/>
                    <a:pt x="11145774" y="2699258"/>
                    <a:pt x="1103731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601200" y="4846320"/>
            <a:ext cx="694944" cy="694944"/>
            <a:chOff x="0" y="0"/>
            <a:chExt cx="926592" cy="926592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515600" y="4809744"/>
            <a:ext cx="6949440" cy="548640"/>
            <a:chOff x="0" y="0"/>
            <a:chExt cx="926592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9265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7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Mandatory Acknowledgment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81864" y="5421463"/>
            <a:ext cx="7863840" cy="1005840"/>
            <a:chOff x="0" y="0"/>
            <a:chExt cx="10485120" cy="13411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0485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'Begin Exam' button is disabled until the checkbox is checked. The UI enforces explicit rule acceptance before entry.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320527" y="6943087"/>
            <a:ext cx="8425177" cy="2024377"/>
            <a:chOff x="0" y="0"/>
            <a:chExt cx="11233569" cy="269916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1037316" y="0"/>
                  </a:lnTo>
                  <a:cubicBezTo>
                    <a:pt x="11145774" y="0"/>
                    <a:pt x="11233658" y="87884"/>
                    <a:pt x="11233658" y="196342"/>
                  </a:cubicBezTo>
                  <a:lnTo>
                    <a:pt x="11233658" y="2502916"/>
                  </a:lnTo>
                  <a:cubicBezTo>
                    <a:pt x="11233658" y="2611374"/>
                    <a:pt x="11145774" y="2699258"/>
                    <a:pt x="1103731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601200" y="7132320"/>
            <a:ext cx="694944" cy="694944"/>
            <a:chOff x="0" y="0"/>
            <a:chExt cx="926592" cy="926592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515600" y="7095744"/>
            <a:ext cx="6949440" cy="548640"/>
            <a:chOff x="0" y="0"/>
            <a:chExt cx="92659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9265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B7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AUTOMATED SE</a:t>
              </a:r>
              <a:r>
                <a:rPr lang="en-US" sz="2400" b="true">
                  <a:solidFill>
                    <a:srgbClr val="FFB7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SSION START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81864" y="7763256"/>
            <a:ext cx="7863840" cy="1005840"/>
            <a:chOff x="0" y="0"/>
            <a:chExt cx="10485120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0485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ountdown begins immediately.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 launches automatically after timeout.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1520" y="9509760"/>
            <a:ext cx="16824960" cy="512064"/>
            <a:chOff x="0" y="0"/>
            <a:chExt cx="2243328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224332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GLib.timeout_add(1000, countdown_tick)  ·  GTK CheckButton  ·  ViewStack.set_visible_child()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0056" y="2228054"/>
            <a:ext cx="9583198" cy="958319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FFE6">
                    <a:alpha val="36000"/>
                  </a:srgbClr>
                </a:gs>
                <a:gs pos="33333">
                  <a:srgbClr val="3A8B7E">
                    <a:alpha val="36000"/>
                  </a:srgbClr>
                </a:gs>
                <a:gs pos="66667">
                  <a:srgbClr val="131416">
                    <a:alpha val="36000"/>
                  </a:srgbClr>
                </a:gs>
                <a:gs pos="100000">
                  <a:srgbClr val="131416">
                    <a:alpha val="36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</a:t>
              </a: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 EXAMINATION WORKSPACE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Screen 3 — ExamView  ·  Dual-Panel Examination Interface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5167" y="2371087"/>
            <a:ext cx="16837657" cy="707641"/>
            <a:chOff x="0" y="0"/>
            <a:chExt cx="22450209" cy="9435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50171" cy="943483"/>
            </a:xfrm>
            <a:custGeom>
              <a:avLst/>
              <a:gdLst/>
              <a:ahLst/>
              <a:cxnLst/>
              <a:rect r="r" b="b" t="t" l="l"/>
              <a:pathLst>
                <a:path h="943483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943483"/>
                  </a:lnTo>
                  <a:lnTo>
                    <a:pt x="0" y="943483"/>
                  </a:ln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50976" y="2414737"/>
            <a:ext cx="10058400" cy="663991"/>
            <a:chOff x="0" y="0"/>
            <a:chExt cx="13411200" cy="885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1200" cy="885321"/>
            </a:xfrm>
            <a:custGeom>
              <a:avLst/>
              <a:gdLst/>
              <a:ahLst/>
              <a:cxnLst/>
              <a:rect r="r" b="b" t="t" l="l"/>
              <a:pathLst>
                <a:path h="885321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85321"/>
                  </a:lnTo>
                  <a:lnTo>
                    <a:pt x="0" y="885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853" r="0" b="-23648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3411200" cy="904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HOPE OS  ● SECURE KIOSK</a:t>
              </a:r>
            </a:p>
            <a:p>
              <a:pPr algn="just">
                <a:lnSpc>
                  <a:spcPts val="2279"/>
                </a:lnSpc>
              </a:pPr>
              <a:r>
                <a:rPr lang="en-US" sz="1899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USER: exam-kiosk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01600" y="2450592"/>
            <a:ext cx="4572000" cy="548640"/>
            <a:chOff x="0" y="0"/>
            <a:chExt cx="6096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096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Time Remaining: 01:42:17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3066031"/>
            <a:ext cx="4401817" cy="6504937"/>
            <a:chOff x="0" y="0"/>
            <a:chExt cx="5869089" cy="86732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69051" cy="8673211"/>
            </a:xfrm>
            <a:custGeom>
              <a:avLst/>
              <a:gdLst/>
              <a:ahLst/>
              <a:cxnLst/>
              <a:rect r="r" b="b" t="t" l="l"/>
              <a:pathLst>
                <a:path h="8673211" w="5869051">
                  <a:moveTo>
                    <a:pt x="0" y="0"/>
                  </a:moveTo>
                  <a:lnTo>
                    <a:pt x="5869051" y="0"/>
                  </a:lnTo>
                  <a:lnTo>
                    <a:pt x="5869051" y="8673211"/>
                  </a:lnTo>
                  <a:lnTo>
                    <a:pt x="0" y="8673211"/>
                  </a:ln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3200400"/>
            <a:ext cx="4023360" cy="548640"/>
            <a:chOff x="0" y="0"/>
            <a:chExt cx="53644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364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QUESTION NAVIGATOR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4623" y="3870703"/>
            <a:ext cx="835657" cy="744217"/>
            <a:chOff x="0" y="0"/>
            <a:chExt cx="1114209" cy="9922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03333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50976" y="3877056"/>
            <a:ext cx="822960" cy="731520"/>
            <a:chOff x="0" y="0"/>
            <a:chExt cx="109728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50463" y="3870703"/>
            <a:ext cx="835657" cy="744217"/>
            <a:chOff x="0" y="0"/>
            <a:chExt cx="1114209" cy="9922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03333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956816" y="3877056"/>
            <a:ext cx="822960" cy="731520"/>
            <a:chOff x="0" y="0"/>
            <a:chExt cx="109728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956303" y="3870703"/>
            <a:ext cx="835657" cy="744217"/>
            <a:chOff x="0" y="0"/>
            <a:chExt cx="1114209" cy="9922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03333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962656" y="3877056"/>
            <a:ext cx="822960" cy="731520"/>
            <a:chOff x="0" y="0"/>
            <a:chExt cx="109728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62143" y="3870703"/>
            <a:ext cx="835657" cy="744217"/>
            <a:chOff x="0" y="0"/>
            <a:chExt cx="1114209" cy="99228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03333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3968496" y="3877056"/>
            <a:ext cx="822960" cy="731520"/>
            <a:chOff x="0" y="0"/>
            <a:chExt cx="109728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4623" y="4876543"/>
            <a:ext cx="835657" cy="744217"/>
            <a:chOff x="0" y="0"/>
            <a:chExt cx="1114209" cy="9922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03333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50976" y="4882896"/>
            <a:ext cx="822960" cy="731520"/>
            <a:chOff x="0" y="0"/>
            <a:chExt cx="109728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950463" y="4876543"/>
            <a:ext cx="835657" cy="744217"/>
            <a:chOff x="0" y="0"/>
            <a:chExt cx="1114209" cy="99228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03333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956816" y="4882896"/>
            <a:ext cx="822960" cy="731520"/>
            <a:chOff x="0" y="0"/>
            <a:chExt cx="109728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56303" y="4876543"/>
            <a:ext cx="835657" cy="744217"/>
            <a:chOff x="0" y="0"/>
            <a:chExt cx="1114209" cy="9922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03333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2962656" y="4882896"/>
            <a:ext cx="822960" cy="731520"/>
            <a:chOff x="0" y="0"/>
            <a:chExt cx="1097280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949446" y="4863846"/>
            <a:ext cx="861060" cy="769620"/>
            <a:chOff x="0" y="0"/>
            <a:chExt cx="1148080" cy="1026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4808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148080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1019810" y="0"/>
                  </a:lnTo>
                  <a:cubicBezTo>
                    <a:pt x="1090676" y="0"/>
                    <a:pt x="1148080" y="57404"/>
                    <a:pt x="1148080" y="128270"/>
                  </a:cubicBezTo>
                  <a:lnTo>
                    <a:pt x="1148080" y="897890"/>
                  </a:lnTo>
                  <a:cubicBezTo>
                    <a:pt x="1148080" y="968756"/>
                    <a:pt x="1090676" y="1026160"/>
                    <a:pt x="1019810" y="1026160"/>
                  </a:cubicBezTo>
                  <a:lnTo>
                    <a:pt x="128270" y="1026160"/>
                  </a:lnTo>
                  <a:cubicBezTo>
                    <a:pt x="57404" y="1026160"/>
                    <a:pt x="0" y="968756"/>
                    <a:pt x="0" y="897890"/>
                  </a:cubicBezTo>
                  <a:close/>
                </a:path>
              </a:pathLst>
            </a:custGeom>
            <a:solidFill>
              <a:srgbClr val="0D1526"/>
            </a:solidFill>
            <a:ln w="38100" cap="sq">
              <a:solidFill>
                <a:srgbClr val="00E5E5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3968496" y="4882896"/>
            <a:ext cx="822960" cy="731520"/>
            <a:chOff x="0" y="0"/>
            <a:chExt cx="1097280" cy="9753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E5E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8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4623" y="5882383"/>
            <a:ext cx="835657" cy="744217"/>
            <a:chOff x="0" y="0"/>
            <a:chExt cx="1114209" cy="99228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0976" y="5888736"/>
            <a:ext cx="822960" cy="731520"/>
            <a:chOff x="0" y="0"/>
            <a:chExt cx="109728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50463" y="5882383"/>
            <a:ext cx="835657" cy="744217"/>
            <a:chOff x="0" y="0"/>
            <a:chExt cx="1114209" cy="99228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956816" y="5888736"/>
            <a:ext cx="822960" cy="731520"/>
            <a:chOff x="0" y="0"/>
            <a:chExt cx="109728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956303" y="5882383"/>
            <a:ext cx="835657" cy="744217"/>
            <a:chOff x="0" y="0"/>
            <a:chExt cx="1114209" cy="99228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2962656" y="5888736"/>
            <a:ext cx="822960" cy="731520"/>
            <a:chOff x="0" y="0"/>
            <a:chExt cx="109728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962143" y="5882383"/>
            <a:ext cx="835657" cy="744217"/>
            <a:chOff x="0" y="0"/>
            <a:chExt cx="1114209" cy="99228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3968496" y="5888736"/>
            <a:ext cx="822960" cy="731520"/>
            <a:chOff x="0" y="0"/>
            <a:chExt cx="1097280" cy="975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44623" y="6888223"/>
            <a:ext cx="835657" cy="744217"/>
            <a:chOff x="0" y="0"/>
            <a:chExt cx="1114209" cy="99228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50976" y="6894576"/>
            <a:ext cx="822960" cy="731520"/>
            <a:chOff x="0" y="0"/>
            <a:chExt cx="1097280" cy="9753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950463" y="6888223"/>
            <a:ext cx="835657" cy="744217"/>
            <a:chOff x="0" y="0"/>
            <a:chExt cx="1114209" cy="99228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956816" y="6894576"/>
            <a:ext cx="822960" cy="731520"/>
            <a:chOff x="0" y="0"/>
            <a:chExt cx="1097280" cy="9753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956303" y="6888223"/>
            <a:ext cx="835657" cy="744217"/>
            <a:chOff x="0" y="0"/>
            <a:chExt cx="1114209" cy="99228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2962656" y="6894576"/>
            <a:ext cx="822960" cy="731520"/>
            <a:chOff x="0" y="0"/>
            <a:chExt cx="1097280" cy="9753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962143" y="6888223"/>
            <a:ext cx="835657" cy="744217"/>
            <a:chOff x="0" y="0"/>
            <a:chExt cx="1114209" cy="99228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3968496" y="6894576"/>
            <a:ext cx="822960" cy="731520"/>
            <a:chOff x="0" y="0"/>
            <a:chExt cx="1097280" cy="9753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44623" y="7894063"/>
            <a:ext cx="835657" cy="744217"/>
            <a:chOff x="0" y="0"/>
            <a:chExt cx="1114209" cy="99228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950976" y="7900416"/>
            <a:ext cx="822960" cy="731520"/>
            <a:chOff x="0" y="0"/>
            <a:chExt cx="1097280" cy="9753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950463" y="7894063"/>
            <a:ext cx="835657" cy="744217"/>
            <a:chOff x="0" y="0"/>
            <a:chExt cx="1114209" cy="99228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956816" y="7900416"/>
            <a:ext cx="822960" cy="731520"/>
            <a:chOff x="0" y="0"/>
            <a:chExt cx="1097280" cy="9753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2956303" y="7894063"/>
            <a:ext cx="835657" cy="744217"/>
            <a:chOff x="0" y="0"/>
            <a:chExt cx="1114209" cy="99228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2962656" y="7900416"/>
            <a:ext cx="822960" cy="731520"/>
            <a:chOff x="0" y="0"/>
            <a:chExt cx="1097280" cy="97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3962143" y="7894063"/>
            <a:ext cx="835657" cy="744217"/>
            <a:chOff x="0" y="0"/>
            <a:chExt cx="1114209" cy="99228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14298" cy="992378"/>
            </a:xfrm>
            <a:custGeom>
              <a:avLst/>
              <a:gdLst/>
              <a:ahLst/>
              <a:cxnLst/>
              <a:rect r="r" b="b" t="t" l="l"/>
              <a:pathLst>
                <a:path h="992378" w="1114298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990219" y="0"/>
                  </a:lnTo>
                  <a:cubicBezTo>
                    <a:pt x="1058672" y="0"/>
                    <a:pt x="1114298" y="55499"/>
                    <a:pt x="1114298" y="124079"/>
                  </a:cubicBezTo>
                  <a:lnTo>
                    <a:pt x="1114298" y="868299"/>
                  </a:lnTo>
                  <a:cubicBezTo>
                    <a:pt x="1114298" y="936752"/>
                    <a:pt x="1058799" y="992378"/>
                    <a:pt x="990219" y="992378"/>
                  </a:cubicBezTo>
                  <a:lnTo>
                    <a:pt x="124079" y="992378"/>
                  </a:lnTo>
                  <a:cubicBezTo>
                    <a:pt x="55499" y="992251"/>
                    <a:pt x="0" y="936752"/>
                    <a:pt x="0" y="868299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3968496" y="7900416"/>
            <a:ext cx="822960" cy="731520"/>
            <a:chOff x="0" y="0"/>
            <a:chExt cx="1097280" cy="9753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9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10972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A65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14400" y="8924544"/>
            <a:ext cx="4023360" cy="512064"/>
            <a:chOff x="0" y="0"/>
            <a:chExt cx="5364480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536448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C8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✓ 7 answered  ·  13 remaining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5205727" y="3066031"/>
            <a:ext cx="12357097" cy="6504937"/>
            <a:chOff x="0" y="0"/>
            <a:chExt cx="16476129" cy="867324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6476090" cy="8673211"/>
            </a:xfrm>
            <a:custGeom>
              <a:avLst/>
              <a:gdLst/>
              <a:ahLst/>
              <a:cxnLst/>
              <a:rect r="r" b="b" t="t" l="l"/>
              <a:pathLst>
                <a:path h="8673211" w="16476090">
                  <a:moveTo>
                    <a:pt x="0" y="0"/>
                  </a:moveTo>
                  <a:lnTo>
                    <a:pt x="16476090" y="0"/>
                  </a:lnTo>
                  <a:lnTo>
                    <a:pt x="16476090" y="8673211"/>
                  </a:lnTo>
                  <a:lnTo>
                    <a:pt x="0" y="8673211"/>
                  </a:ln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5449824" y="3200400"/>
            <a:ext cx="11795760" cy="914400"/>
            <a:chOff x="0" y="0"/>
            <a:chExt cx="15727680" cy="12192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727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356" r="0" b="-201356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19050"/>
              <a:ext cx="157276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Q8. Explain the role of cryptographic hash functions in maintaining data integrity during examination submission.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5290823" y="4156967"/>
            <a:ext cx="12186923" cy="61979"/>
            <a:chOff x="0" y="0"/>
            <a:chExt cx="16249231" cy="82639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6249269" cy="82677"/>
            </a:xfrm>
            <a:custGeom>
              <a:avLst/>
              <a:gdLst/>
              <a:ahLst/>
              <a:cxnLst/>
              <a:rect r="r" b="b" t="t" l="l"/>
              <a:pathLst>
                <a:path h="82677" w="16249269">
                  <a:moveTo>
                    <a:pt x="0" y="0"/>
                  </a:moveTo>
                  <a:lnTo>
                    <a:pt x="16249269" y="0"/>
                  </a:lnTo>
                  <a:lnTo>
                    <a:pt x="162492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5A6578"/>
            </a:solidFill>
            <a:ln w="2540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5449824" y="4297680"/>
            <a:ext cx="11887200" cy="4937760"/>
            <a:chOff x="0" y="0"/>
            <a:chExt cx="15849600" cy="658368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58496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95" t="0" r="-3295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15849600" cy="6602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cryptographic hash function produces a fixed-size digest from variable input. In exam submission, each answer block is passed through SHA-256 before GPG encryption, ensuring that any post-submission tampering changes the hash and invalidates the payload signature...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[cursor blinking here]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725167" y="9558271"/>
            <a:ext cx="16837657" cy="561337"/>
            <a:chOff x="0" y="0"/>
            <a:chExt cx="22450209" cy="74844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2450171" cy="748411"/>
            </a:xfrm>
            <a:custGeom>
              <a:avLst/>
              <a:gdLst/>
              <a:ahLst/>
              <a:cxnLst/>
              <a:rect r="r" b="b" t="t" l="l"/>
              <a:pathLst>
                <a:path h="74841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005840" y="9601200"/>
            <a:ext cx="16459200" cy="438912"/>
            <a:chOff x="0" y="0"/>
            <a:chExt cx="21945600" cy="58521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219456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C87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Auto-saved: 14:32:05  ·  Q8 / 20  ·  Words: 142  ·  ENCRYPTED BUFFER ACTIVE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011154">
            <a:off x="12221280" y="1196864"/>
            <a:ext cx="17403374" cy="18180272"/>
            <a:chOff x="0" y="0"/>
            <a:chExt cx="4583605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74770">
            <a:off x="-5389376" y="5012263"/>
            <a:ext cx="20251759" cy="18180272"/>
            <a:chOff x="0" y="0"/>
            <a:chExt cx="5333797" cy="4788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42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FAIL-SAFE STATE PRESERVATION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AUTOMATED RECOVERY &amp; DATA INTEGRITY LAYER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8477" y="2458717"/>
            <a:ext cx="5506717" cy="3037837"/>
            <a:chOff x="0" y="0"/>
            <a:chExt cx="7342289" cy="40504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42251" cy="4050411"/>
            </a:xfrm>
            <a:custGeom>
              <a:avLst/>
              <a:gdLst/>
              <a:ahLst/>
              <a:cxnLst/>
              <a:rect r="r" b="b" t="t" l="l"/>
              <a:pathLst>
                <a:path h="4050411" w="7342251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145909" y="0"/>
                  </a:lnTo>
                  <a:cubicBezTo>
                    <a:pt x="7254367" y="0"/>
                    <a:pt x="7342251" y="87884"/>
                    <a:pt x="7342251" y="196342"/>
                  </a:cubicBezTo>
                  <a:lnTo>
                    <a:pt x="7342251" y="3854069"/>
                  </a:lnTo>
                  <a:cubicBezTo>
                    <a:pt x="7342251" y="3962527"/>
                    <a:pt x="7254367" y="4050411"/>
                    <a:pt x="7145909" y="4050411"/>
                  </a:cubicBezTo>
                  <a:lnTo>
                    <a:pt x="196342" y="4050411"/>
                  </a:lnTo>
                  <a:cubicBezTo>
                    <a:pt x="87884" y="4050411"/>
                    <a:pt x="0" y="3962527"/>
                    <a:pt x="0" y="3854069"/>
                  </a:cubicBezTo>
                  <a:close/>
                </a:path>
              </a:pathLst>
            </a:custGeom>
            <a:solidFill>
              <a:srgbClr val="0D1526"/>
            </a:solidFill>
            <a:ln w="2032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2247" y="2602487"/>
            <a:ext cx="1397003" cy="537467"/>
            <a:chOff x="0" y="0"/>
            <a:chExt cx="1862671" cy="7166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2709" cy="716534"/>
            </a:xfrm>
            <a:custGeom>
              <a:avLst/>
              <a:gdLst/>
              <a:ahLst/>
              <a:cxnLst/>
              <a:rect r="r" b="b" t="t" l="l"/>
              <a:pathLst>
                <a:path h="716534" w="186270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760347" y="0"/>
                  </a:lnTo>
                  <a:cubicBezTo>
                    <a:pt x="1816862" y="0"/>
                    <a:pt x="1862709" y="45847"/>
                    <a:pt x="1862709" y="102362"/>
                  </a:cubicBezTo>
                  <a:lnTo>
                    <a:pt x="1862709" y="614172"/>
                  </a:lnTo>
                  <a:cubicBezTo>
                    <a:pt x="1862709" y="670687"/>
                    <a:pt x="1816862" y="716534"/>
                    <a:pt x="176034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94944" y="2615184"/>
            <a:ext cx="1371600" cy="512064"/>
            <a:chOff x="0" y="0"/>
            <a:chExt cx="182880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8288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T+0s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3255264"/>
            <a:ext cx="5120640" cy="548640"/>
            <a:chOff x="0" y="0"/>
            <a:chExt cx="6827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 SESSION START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5073" y="3717036"/>
            <a:ext cx="5120640" cy="1426464"/>
            <a:chOff x="0" y="0"/>
            <a:chExt cx="6827520" cy="19019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6" r="0" b="-199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82752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ExamView initializes.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 timer service activated.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27213" y="2458717"/>
            <a:ext cx="5506717" cy="3037837"/>
            <a:chOff x="0" y="0"/>
            <a:chExt cx="7342289" cy="40504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2251" cy="4050411"/>
            </a:xfrm>
            <a:custGeom>
              <a:avLst/>
              <a:gdLst/>
              <a:ahLst/>
              <a:cxnLst/>
              <a:rect r="r" b="b" t="t" l="l"/>
              <a:pathLst>
                <a:path h="4050411" w="7342251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145909" y="0"/>
                  </a:lnTo>
                  <a:cubicBezTo>
                    <a:pt x="7254367" y="0"/>
                    <a:pt x="7342251" y="87884"/>
                    <a:pt x="7342251" y="196342"/>
                  </a:cubicBezTo>
                  <a:lnTo>
                    <a:pt x="7342251" y="3854069"/>
                  </a:lnTo>
                  <a:cubicBezTo>
                    <a:pt x="7342251" y="3962527"/>
                    <a:pt x="7254367" y="4050411"/>
                    <a:pt x="7145909" y="4050411"/>
                  </a:cubicBezTo>
                  <a:lnTo>
                    <a:pt x="196342" y="4050411"/>
                  </a:lnTo>
                  <a:cubicBezTo>
                    <a:pt x="87884" y="4050411"/>
                    <a:pt x="0" y="3962527"/>
                    <a:pt x="0" y="3854069"/>
                  </a:cubicBezTo>
                  <a:close/>
                </a:path>
              </a:pathLst>
            </a:custGeom>
            <a:solidFill>
              <a:srgbClr val="0D1526"/>
            </a:solidFill>
            <a:ln w="2032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570983" y="2602487"/>
            <a:ext cx="1397003" cy="537467"/>
            <a:chOff x="0" y="0"/>
            <a:chExt cx="1862671" cy="7166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2709" cy="716534"/>
            </a:xfrm>
            <a:custGeom>
              <a:avLst/>
              <a:gdLst/>
              <a:ahLst/>
              <a:cxnLst/>
              <a:rect r="r" b="b" t="t" l="l"/>
              <a:pathLst>
                <a:path h="716534" w="186270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760347" y="0"/>
                  </a:lnTo>
                  <a:cubicBezTo>
                    <a:pt x="1816862" y="0"/>
                    <a:pt x="1862709" y="45847"/>
                    <a:pt x="1862709" y="102362"/>
                  </a:cubicBezTo>
                  <a:lnTo>
                    <a:pt x="1862709" y="614172"/>
                  </a:lnTo>
                  <a:cubicBezTo>
                    <a:pt x="1862709" y="670687"/>
                    <a:pt x="1816862" y="716534"/>
                    <a:pt x="176034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0" y="2615184"/>
            <a:ext cx="1371600" cy="512064"/>
            <a:chOff x="0" y="0"/>
            <a:chExt cx="182880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8288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T+30s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20256" y="3255264"/>
            <a:ext cx="5120640" cy="548640"/>
            <a:chOff x="0" y="0"/>
            <a:chExt cx="6827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5s </a:t>
              </a: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AUTO-SAVE ENGINE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20256" y="3717036"/>
            <a:ext cx="5120640" cy="1426464"/>
            <a:chOff x="0" y="0"/>
            <a:chExt cx="6827520" cy="19019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6" r="0" b="-199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82752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Encryp</a:t>
              </a: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ted answers captured every 5 seconds.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15949" y="2458717"/>
            <a:ext cx="5506717" cy="3037837"/>
            <a:chOff x="0" y="0"/>
            <a:chExt cx="7342289" cy="40504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42251" cy="4050411"/>
            </a:xfrm>
            <a:custGeom>
              <a:avLst/>
              <a:gdLst/>
              <a:ahLst/>
              <a:cxnLst/>
              <a:rect r="r" b="b" t="t" l="l"/>
              <a:pathLst>
                <a:path h="4050411" w="7342251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145909" y="0"/>
                  </a:lnTo>
                  <a:cubicBezTo>
                    <a:pt x="7254367" y="0"/>
                    <a:pt x="7342251" y="87884"/>
                    <a:pt x="7342251" y="196342"/>
                  </a:cubicBezTo>
                  <a:lnTo>
                    <a:pt x="7342251" y="3854069"/>
                  </a:lnTo>
                  <a:cubicBezTo>
                    <a:pt x="7342251" y="3962527"/>
                    <a:pt x="7254367" y="4050411"/>
                    <a:pt x="7145909" y="4050411"/>
                  </a:cubicBezTo>
                  <a:lnTo>
                    <a:pt x="196342" y="4050411"/>
                  </a:lnTo>
                  <a:cubicBezTo>
                    <a:pt x="87884" y="4050411"/>
                    <a:pt x="0" y="3962527"/>
                    <a:pt x="0" y="3854069"/>
                  </a:cubicBezTo>
                  <a:close/>
                </a:path>
              </a:pathLst>
            </a:custGeom>
            <a:solidFill>
              <a:srgbClr val="0D1526"/>
            </a:solidFill>
            <a:ln w="2032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459719" y="2602487"/>
            <a:ext cx="1397003" cy="537467"/>
            <a:chOff x="0" y="0"/>
            <a:chExt cx="1862671" cy="7166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62709" cy="716534"/>
            </a:xfrm>
            <a:custGeom>
              <a:avLst/>
              <a:gdLst/>
              <a:ahLst/>
              <a:cxnLst/>
              <a:rect r="r" b="b" t="t" l="l"/>
              <a:pathLst>
                <a:path h="716534" w="186270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760347" y="0"/>
                  </a:lnTo>
                  <a:cubicBezTo>
                    <a:pt x="1816862" y="0"/>
                    <a:pt x="1862709" y="45847"/>
                    <a:pt x="1862709" y="102362"/>
                  </a:cubicBezTo>
                  <a:lnTo>
                    <a:pt x="1862709" y="614172"/>
                  </a:lnTo>
                  <a:cubicBezTo>
                    <a:pt x="1862709" y="670687"/>
                    <a:pt x="1816862" y="716534"/>
                    <a:pt x="176034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472416" y="2615184"/>
            <a:ext cx="1371600" cy="512064"/>
            <a:chOff x="0" y="0"/>
            <a:chExt cx="18288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8288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T+30s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508992" y="3255264"/>
            <a:ext cx="5120640" cy="548640"/>
            <a:chOff x="0" y="0"/>
            <a:chExt cx="682752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SECURE ANSWER PAYLOAD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72416" y="3663058"/>
            <a:ext cx="5120640" cy="1426464"/>
            <a:chOff x="0" y="0"/>
            <a:chExt cx="6827520" cy="19019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6" r="0" b="-199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82752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Answers converted into structured encrypted payload.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8477" y="5841997"/>
            <a:ext cx="5506717" cy="3037837"/>
            <a:chOff x="0" y="0"/>
            <a:chExt cx="7342289" cy="405044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42251" cy="4050411"/>
            </a:xfrm>
            <a:custGeom>
              <a:avLst/>
              <a:gdLst/>
              <a:ahLst/>
              <a:cxnLst/>
              <a:rect r="r" b="b" t="t" l="l"/>
              <a:pathLst>
                <a:path h="4050411" w="7342251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145909" y="0"/>
                  </a:lnTo>
                  <a:cubicBezTo>
                    <a:pt x="7254367" y="0"/>
                    <a:pt x="7342251" y="87884"/>
                    <a:pt x="7342251" y="196342"/>
                  </a:cubicBezTo>
                  <a:lnTo>
                    <a:pt x="7342251" y="3854069"/>
                  </a:lnTo>
                  <a:cubicBezTo>
                    <a:pt x="7342251" y="3962527"/>
                    <a:pt x="7254367" y="4050411"/>
                    <a:pt x="7145909" y="4050411"/>
                  </a:cubicBezTo>
                  <a:lnTo>
                    <a:pt x="196342" y="4050411"/>
                  </a:lnTo>
                  <a:cubicBezTo>
                    <a:pt x="87884" y="4050411"/>
                    <a:pt x="0" y="3962527"/>
                    <a:pt x="0" y="3854069"/>
                  </a:cubicBezTo>
                  <a:close/>
                </a:path>
              </a:pathLst>
            </a:custGeom>
            <a:solidFill>
              <a:srgbClr val="0D1526"/>
            </a:solidFill>
            <a:ln w="2032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2247" y="5985767"/>
            <a:ext cx="1397003" cy="537467"/>
            <a:chOff x="0" y="0"/>
            <a:chExt cx="1862671" cy="71662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62709" cy="716534"/>
            </a:xfrm>
            <a:custGeom>
              <a:avLst/>
              <a:gdLst/>
              <a:ahLst/>
              <a:cxnLst/>
              <a:rect r="r" b="b" t="t" l="l"/>
              <a:pathLst>
                <a:path h="716534" w="186270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760347" y="0"/>
                  </a:lnTo>
                  <a:cubicBezTo>
                    <a:pt x="1816862" y="0"/>
                    <a:pt x="1862709" y="45847"/>
                    <a:pt x="1862709" y="102362"/>
                  </a:cubicBezTo>
                  <a:lnTo>
                    <a:pt x="1862709" y="614172"/>
                  </a:lnTo>
                  <a:cubicBezTo>
                    <a:pt x="1862709" y="670687"/>
                    <a:pt x="1816862" y="716534"/>
                    <a:pt x="176034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94944" y="5998464"/>
            <a:ext cx="1371600" cy="512064"/>
            <a:chOff x="0" y="0"/>
            <a:chExt cx="1828800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8288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T+30s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31520" y="6638544"/>
            <a:ext cx="5120640" cy="548640"/>
            <a:chOff x="0" y="0"/>
            <a:chExt cx="68275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Disk Write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31520" y="7028059"/>
            <a:ext cx="5120640" cy="1426464"/>
            <a:chOff x="0" y="0"/>
            <a:chExt cx="6827520" cy="19019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6" r="0" b="-1994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82752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Encrypted p</a:t>
              </a: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ayload stored locally.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Recovery copy maintained.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27213" y="5841997"/>
            <a:ext cx="5506717" cy="3037837"/>
            <a:chOff x="0" y="0"/>
            <a:chExt cx="7342289" cy="405044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42251" cy="4050411"/>
            </a:xfrm>
            <a:custGeom>
              <a:avLst/>
              <a:gdLst/>
              <a:ahLst/>
              <a:cxnLst/>
              <a:rect r="r" b="b" t="t" l="l"/>
              <a:pathLst>
                <a:path h="4050411" w="7342251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145909" y="0"/>
                  </a:lnTo>
                  <a:cubicBezTo>
                    <a:pt x="7254367" y="0"/>
                    <a:pt x="7342251" y="87884"/>
                    <a:pt x="7342251" y="196342"/>
                  </a:cubicBezTo>
                  <a:lnTo>
                    <a:pt x="7342251" y="3854069"/>
                  </a:lnTo>
                  <a:cubicBezTo>
                    <a:pt x="7342251" y="3962527"/>
                    <a:pt x="7254367" y="4050411"/>
                    <a:pt x="7145909" y="4050411"/>
                  </a:cubicBezTo>
                  <a:lnTo>
                    <a:pt x="196342" y="4050411"/>
                  </a:lnTo>
                  <a:cubicBezTo>
                    <a:pt x="87884" y="4050411"/>
                    <a:pt x="0" y="3962527"/>
                    <a:pt x="0" y="3854069"/>
                  </a:cubicBezTo>
                  <a:close/>
                </a:path>
              </a:pathLst>
            </a:custGeom>
            <a:solidFill>
              <a:srgbClr val="0D1526"/>
            </a:solidFill>
            <a:ln w="2032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570983" y="5985767"/>
            <a:ext cx="1397003" cy="537467"/>
            <a:chOff x="0" y="0"/>
            <a:chExt cx="1862671" cy="7166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62709" cy="716534"/>
            </a:xfrm>
            <a:custGeom>
              <a:avLst/>
              <a:gdLst/>
              <a:ahLst/>
              <a:cxnLst/>
              <a:rect r="r" b="b" t="t" l="l"/>
              <a:pathLst>
                <a:path h="716534" w="186270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760347" y="0"/>
                  </a:lnTo>
                  <a:cubicBezTo>
                    <a:pt x="1816862" y="0"/>
                    <a:pt x="1862709" y="45847"/>
                    <a:pt x="1862709" y="102362"/>
                  </a:cubicBezTo>
                  <a:lnTo>
                    <a:pt x="1862709" y="614172"/>
                  </a:lnTo>
                  <a:cubicBezTo>
                    <a:pt x="1862709" y="670687"/>
                    <a:pt x="1816862" y="716534"/>
                    <a:pt x="176034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583680" y="5998464"/>
            <a:ext cx="1371600" cy="512064"/>
            <a:chOff x="0" y="0"/>
            <a:chExt cx="182880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8288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T+30s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620256" y="6638544"/>
            <a:ext cx="5120640" cy="548640"/>
            <a:chOff x="0" y="0"/>
            <a:chExt cx="682752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SAVE</a:t>
              </a: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CONFIRMATION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620256" y="7028059"/>
            <a:ext cx="5120640" cy="1426464"/>
            <a:chOff x="0" y="0"/>
            <a:chExt cx="6827520" cy="19019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6" r="0" b="-1994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682752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tudent receives instant save confirmation.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315949" y="5841997"/>
            <a:ext cx="5506717" cy="3037837"/>
            <a:chOff x="0" y="0"/>
            <a:chExt cx="7342289" cy="405044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42251" cy="4050411"/>
            </a:xfrm>
            <a:custGeom>
              <a:avLst/>
              <a:gdLst/>
              <a:ahLst/>
              <a:cxnLst/>
              <a:rect r="r" b="b" t="t" l="l"/>
              <a:pathLst>
                <a:path h="4050411" w="7342251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145909" y="0"/>
                  </a:lnTo>
                  <a:cubicBezTo>
                    <a:pt x="7254367" y="0"/>
                    <a:pt x="7342251" y="87884"/>
                    <a:pt x="7342251" y="196342"/>
                  </a:cubicBezTo>
                  <a:lnTo>
                    <a:pt x="7342251" y="3854069"/>
                  </a:lnTo>
                  <a:cubicBezTo>
                    <a:pt x="7342251" y="3962527"/>
                    <a:pt x="7254367" y="4050411"/>
                    <a:pt x="7145909" y="4050411"/>
                  </a:cubicBezTo>
                  <a:lnTo>
                    <a:pt x="196342" y="4050411"/>
                  </a:lnTo>
                  <a:cubicBezTo>
                    <a:pt x="87884" y="4050411"/>
                    <a:pt x="0" y="3962527"/>
                    <a:pt x="0" y="3854069"/>
                  </a:cubicBezTo>
                  <a:close/>
                </a:path>
              </a:pathLst>
            </a:custGeom>
            <a:solidFill>
              <a:srgbClr val="0D1526"/>
            </a:solidFill>
            <a:ln w="2032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2459719" y="5985767"/>
            <a:ext cx="1397003" cy="537467"/>
            <a:chOff x="0" y="0"/>
            <a:chExt cx="1862671" cy="71662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62709" cy="716534"/>
            </a:xfrm>
            <a:custGeom>
              <a:avLst/>
              <a:gdLst/>
              <a:ahLst/>
              <a:cxnLst/>
              <a:rect r="r" b="b" t="t" l="l"/>
              <a:pathLst>
                <a:path h="716534" w="186270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760347" y="0"/>
                  </a:lnTo>
                  <a:cubicBezTo>
                    <a:pt x="1816862" y="0"/>
                    <a:pt x="1862709" y="45847"/>
                    <a:pt x="1862709" y="102362"/>
                  </a:cubicBezTo>
                  <a:lnTo>
                    <a:pt x="1862709" y="614172"/>
                  </a:lnTo>
                  <a:cubicBezTo>
                    <a:pt x="1862709" y="670687"/>
                    <a:pt x="1816862" y="716534"/>
                    <a:pt x="176034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472416" y="5998464"/>
            <a:ext cx="1371600" cy="512064"/>
            <a:chOff x="0" y="0"/>
            <a:chExt cx="182880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8288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T+60s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508992" y="6638544"/>
            <a:ext cx="5120640" cy="548640"/>
            <a:chOff x="0" y="0"/>
            <a:chExt cx="682752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Next Cycle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472416" y="7028059"/>
            <a:ext cx="5120640" cy="1426464"/>
            <a:chOff x="0" y="0"/>
            <a:chExt cx="6827520" cy="19019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6" r="0" b="-1994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682752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revious state replaced safely.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Integrity maintained.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42287" y="9229087"/>
            <a:ext cx="17203417" cy="835657"/>
            <a:chOff x="0" y="0"/>
            <a:chExt cx="22937889" cy="111420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937977" cy="1114298"/>
            </a:xfrm>
            <a:custGeom>
              <a:avLst/>
              <a:gdLst/>
              <a:ahLst/>
              <a:cxnLst/>
              <a:rect r="r" b="b" t="t" l="l"/>
              <a:pathLst>
                <a:path h="1114298" w="22937977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2789387" y="0"/>
                  </a:lnTo>
                  <a:cubicBezTo>
                    <a:pt x="22871429" y="0"/>
                    <a:pt x="22937977" y="66548"/>
                    <a:pt x="22937977" y="148590"/>
                  </a:cubicBezTo>
                  <a:lnTo>
                    <a:pt x="22937977" y="965708"/>
                  </a:lnTo>
                  <a:cubicBezTo>
                    <a:pt x="22937977" y="1047750"/>
                    <a:pt x="22871429" y="1114298"/>
                    <a:pt x="22789387" y="1114298"/>
                  </a:cubicBezTo>
                  <a:lnTo>
                    <a:pt x="148590" y="1114298"/>
                  </a:lnTo>
                  <a:cubicBezTo>
                    <a:pt x="66548" y="1114171"/>
                    <a:pt x="0" y="1047750"/>
                    <a:pt x="0" y="965708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914400" y="9290304"/>
            <a:ext cx="16642080" cy="676656"/>
            <a:chOff x="0" y="0"/>
            <a:chExt cx="22189440" cy="90220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189439" cy="902208"/>
            </a:xfrm>
            <a:custGeom>
              <a:avLst/>
              <a:gdLst/>
              <a:ahLst/>
              <a:cxnLst/>
              <a:rect r="r" b="b" t="t" l="l"/>
              <a:pathLst>
                <a:path h="90220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226" r="0" b="-42922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22189440" cy="921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{"id":"Q8","answer":"A cryptographic hash...","words":142,"saved":"2026-06-14T14:32:05Z"}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2640" y="0"/>
            <a:ext cx="8028682" cy="10287000"/>
            <a:chOff x="0" y="0"/>
            <a:chExt cx="211455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455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14550">
                  <a:moveTo>
                    <a:pt x="0" y="0"/>
                  </a:moveTo>
                  <a:lnTo>
                    <a:pt x="2114550" y="0"/>
                  </a:lnTo>
                  <a:lnTo>
                    <a:pt x="211455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5CED1">
                    <a:alpha val="34000"/>
                  </a:srgbClr>
                </a:gs>
                <a:gs pos="100000">
                  <a:srgbClr val="000000">
                    <a:alpha val="34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1455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Z</a:t>
              </a:r>
              <a:r>
                <a:rPr lang="en-US" sz="48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ERO-TRUST QUESTION VAULT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588770"/>
            <a:ext cx="16459200" cy="548640"/>
            <a:chOff x="0" y="0"/>
            <a:chExt cx="21945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Cryptographic Layer 1 &amp; 2  ·  Question Vault — Disk → RAM Decryption Chain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7057" y="2541270"/>
            <a:ext cx="3878580" cy="2964180"/>
            <a:chOff x="0" y="0"/>
            <a:chExt cx="5171440" cy="395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71440" cy="3952240"/>
            </a:xfrm>
            <a:custGeom>
              <a:avLst/>
              <a:gdLst/>
              <a:ahLst/>
              <a:cxnLst/>
              <a:rect r="r" b="b" t="t" l="l"/>
              <a:pathLst>
                <a:path h="3952240" w="5171440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4924425" y="0"/>
                  </a:lnTo>
                  <a:cubicBezTo>
                    <a:pt x="5060823" y="0"/>
                    <a:pt x="5171440" y="110617"/>
                    <a:pt x="5171440" y="247015"/>
                  </a:cubicBezTo>
                  <a:lnTo>
                    <a:pt x="5171440" y="3705225"/>
                  </a:lnTo>
                  <a:cubicBezTo>
                    <a:pt x="5171440" y="3841623"/>
                    <a:pt x="5060823" y="3952240"/>
                    <a:pt x="4924425" y="3952240"/>
                  </a:cubicBezTo>
                  <a:lnTo>
                    <a:pt x="247015" y="3952240"/>
                  </a:lnTo>
                  <a:cubicBezTo>
                    <a:pt x="110617" y="3952240"/>
                    <a:pt x="0" y="3841623"/>
                    <a:pt x="0" y="3705225"/>
                  </a:cubicBezTo>
                  <a:close/>
                </a:path>
              </a:pathLst>
            </a:custGeom>
            <a:solidFill>
              <a:srgbClr val="0D1526"/>
            </a:solidFill>
            <a:ln w="38100" cap="sq">
              <a:solidFill>
                <a:srgbClr val="FF4A6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984372" y="2743200"/>
            <a:ext cx="1005840" cy="1005840"/>
            <a:chOff x="0" y="0"/>
            <a:chExt cx="1341120" cy="134112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7230" y="3840480"/>
            <a:ext cx="3657600" cy="640080"/>
            <a:chOff x="0" y="0"/>
            <a:chExt cx="48768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8768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4A6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Encrypted on Disk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4212" y="4480560"/>
            <a:ext cx="3657600" cy="822960"/>
            <a:chOff x="0" y="0"/>
            <a:chExt cx="487680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Layer 1+2 ciphertext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/var/exam/paper.enc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455157" y="3997957"/>
            <a:ext cx="416557" cy="50797"/>
            <a:chOff x="0" y="0"/>
            <a:chExt cx="555409" cy="677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5371" cy="67691"/>
            </a:xfrm>
            <a:custGeom>
              <a:avLst/>
              <a:gdLst/>
              <a:ahLst/>
              <a:cxnLst/>
              <a:rect r="r" b="b" t="t" l="l"/>
              <a:pathLst>
                <a:path h="67691" w="555371">
                  <a:moveTo>
                    <a:pt x="0" y="0"/>
                  </a:moveTo>
                  <a:lnTo>
                    <a:pt x="55537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9847" r="-6" b="-109904"/>
              </a:stretch>
            </a:blipFill>
            <a:ln w="508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440555" y="3749040"/>
            <a:ext cx="548640" cy="641548"/>
            <a:chOff x="0" y="0"/>
            <a:chExt cx="731520" cy="8553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855398"/>
            </a:xfrm>
            <a:custGeom>
              <a:avLst/>
              <a:gdLst/>
              <a:ahLst/>
              <a:cxnLst/>
              <a:rect r="r" b="b" t="t" l="l"/>
              <a:pathLst>
                <a:path h="85539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5398"/>
                  </a:lnTo>
                  <a:lnTo>
                    <a:pt x="0" y="8553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448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31520" cy="883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71412" y="2541270"/>
            <a:ext cx="3878580" cy="2964180"/>
            <a:chOff x="0" y="0"/>
            <a:chExt cx="5171440" cy="395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71440" cy="3952240"/>
            </a:xfrm>
            <a:custGeom>
              <a:avLst/>
              <a:gdLst/>
              <a:ahLst/>
              <a:cxnLst/>
              <a:rect r="r" b="b" t="t" l="l"/>
              <a:pathLst>
                <a:path h="3952240" w="5171440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4924425" y="0"/>
                  </a:lnTo>
                  <a:cubicBezTo>
                    <a:pt x="5060823" y="0"/>
                    <a:pt x="5171440" y="110617"/>
                    <a:pt x="5171440" y="247015"/>
                  </a:cubicBezTo>
                  <a:lnTo>
                    <a:pt x="5171440" y="3705225"/>
                  </a:lnTo>
                  <a:cubicBezTo>
                    <a:pt x="5171440" y="3841623"/>
                    <a:pt x="5060823" y="3952240"/>
                    <a:pt x="4924425" y="3952240"/>
                  </a:cubicBezTo>
                  <a:lnTo>
                    <a:pt x="247015" y="3952240"/>
                  </a:lnTo>
                  <a:cubicBezTo>
                    <a:pt x="110617" y="3952240"/>
                    <a:pt x="0" y="3841623"/>
                    <a:pt x="0" y="3705225"/>
                  </a:cubicBezTo>
                  <a:close/>
                </a:path>
              </a:pathLst>
            </a:custGeom>
            <a:solidFill>
              <a:srgbClr val="0D1526"/>
            </a:solidFill>
            <a:ln w="381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367777" y="2743200"/>
            <a:ext cx="1005840" cy="1005840"/>
            <a:chOff x="0" y="0"/>
            <a:chExt cx="1341120" cy="134112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84445" y="3840480"/>
            <a:ext cx="3657600" cy="640080"/>
            <a:chOff x="0" y="0"/>
            <a:chExt cx="487680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8768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B7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ChaCha20-Poly1305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87617" y="4480560"/>
            <a:ext cx="3657600" cy="822960"/>
            <a:chOff x="0" y="0"/>
            <a:chExt cx="487680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Layer 1 decryption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Outer envelope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44277" y="3997957"/>
            <a:ext cx="416557" cy="50797"/>
            <a:chOff x="0" y="0"/>
            <a:chExt cx="555409" cy="677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5371" cy="67691"/>
            </a:xfrm>
            <a:custGeom>
              <a:avLst/>
              <a:gdLst/>
              <a:ahLst/>
              <a:cxnLst/>
              <a:rect r="r" b="b" t="t" l="l"/>
              <a:pathLst>
                <a:path h="67691" w="555371">
                  <a:moveTo>
                    <a:pt x="0" y="0"/>
                  </a:moveTo>
                  <a:lnTo>
                    <a:pt x="55537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9847" r="-6" b="-109904"/>
              </a:stretch>
            </a:blipFill>
            <a:ln w="508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837295" y="3749040"/>
            <a:ext cx="548640" cy="641548"/>
            <a:chOff x="0" y="0"/>
            <a:chExt cx="731520" cy="85539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855398"/>
            </a:xfrm>
            <a:custGeom>
              <a:avLst/>
              <a:gdLst/>
              <a:ahLst/>
              <a:cxnLst/>
              <a:rect r="r" b="b" t="t" l="l"/>
              <a:pathLst>
                <a:path h="85539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5398"/>
                  </a:lnTo>
                  <a:lnTo>
                    <a:pt x="0" y="8553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448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731520" cy="883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→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64342" y="2541270"/>
            <a:ext cx="3878580" cy="2964180"/>
            <a:chOff x="0" y="0"/>
            <a:chExt cx="5171440" cy="3952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71440" cy="3952240"/>
            </a:xfrm>
            <a:custGeom>
              <a:avLst/>
              <a:gdLst/>
              <a:ahLst/>
              <a:cxnLst/>
              <a:rect r="r" b="b" t="t" l="l"/>
              <a:pathLst>
                <a:path h="3952240" w="5171440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4924425" y="0"/>
                  </a:lnTo>
                  <a:cubicBezTo>
                    <a:pt x="5060823" y="0"/>
                    <a:pt x="5171440" y="110617"/>
                    <a:pt x="5171440" y="247015"/>
                  </a:cubicBezTo>
                  <a:lnTo>
                    <a:pt x="5171440" y="3705225"/>
                  </a:lnTo>
                  <a:cubicBezTo>
                    <a:pt x="5171440" y="3841623"/>
                    <a:pt x="5060823" y="3952240"/>
                    <a:pt x="4924425" y="3952240"/>
                  </a:cubicBezTo>
                  <a:lnTo>
                    <a:pt x="247015" y="3952240"/>
                  </a:lnTo>
                  <a:cubicBezTo>
                    <a:pt x="110617" y="3952240"/>
                    <a:pt x="0" y="3841623"/>
                    <a:pt x="0" y="3705225"/>
                  </a:cubicBezTo>
                  <a:close/>
                </a:path>
              </a:pathLst>
            </a:custGeom>
            <a:solidFill>
              <a:srgbClr val="0D1526"/>
            </a:solidFill>
            <a:ln w="381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753725" y="2743200"/>
            <a:ext cx="1005840" cy="1005840"/>
            <a:chOff x="0" y="0"/>
            <a:chExt cx="1341120" cy="134112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471660" y="3840480"/>
            <a:ext cx="3657600" cy="640080"/>
            <a:chOff x="0" y="0"/>
            <a:chExt cx="487680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8768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AES-256-GCM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74832" y="4480560"/>
            <a:ext cx="3657600" cy="822960"/>
            <a:chOff x="0" y="0"/>
            <a:chExt cx="487680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Layer 2 decryption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Inner envelope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33397" y="3997957"/>
            <a:ext cx="416557" cy="50797"/>
            <a:chOff x="0" y="0"/>
            <a:chExt cx="555409" cy="677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55371" cy="67691"/>
            </a:xfrm>
            <a:custGeom>
              <a:avLst/>
              <a:gdLst/>
              <a:ahLst/>
              <a:cxnLst/>
              <a:rect r="r" b="b" t="t" l="l"/>
              <a:pathLst>
                <a:path h="67691" w="555371">
                  <a:moveTo>
                    <a:pt x="0" y="0"/>
                  </a:moveTo>
                  <a:lnTo>
                    <a:pt x="55537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9847" r="-6" b="-109904"/>
              </a:stretch>
            </a:blipFill>
            <a:ln w="508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224510" y="3749040"/>
            <a:ext cx="548640" cy="641548"/>
            <a:chOff x="0" y="0"/>
            <a:chExt cx="731520" cy="85539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855398"/>
            </a:xfrm>
            <a:custGeom>
              <a:avLst/>
              <a:gdLst/>
              <a:ahLst/>
              <a:cxnLst/>
              <a:rect r="r" b="b" t="t" l="l"/>
              <a:pathLst>
                <a:path h="85539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5398"/>
                  </a:lnTo>
                  <a:lnTo>
                    <a:pt x="0" y="8553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1448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731520" cy="883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754100" y="2541270"/>
            <a:ext cx="3878580" cy="2964180"/>
            <a:chOff x="0" y="0"/>
            <a:chExt cx="5171440" cy="3952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71440" cy="3952240"/>
            </a:xfrm>
            <a:custGeom>
              <a:avLst/>
              <a:gdLst/>
              <a:ahLst/>
              <a:cxnLst/>
              <a:rect r="r" b="b" t="t" l="l"/>
              <a:pathLst>
                <a:path h="3952240" w="5171440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4924425" y="0"/>
                  </a:lnTo>
                  <a:cubicBezTo>
                    <a:pt x="5060823" y="0"/>
                    <a:pt x="5171440" y="110617"/>
                    <a:pt x="5171440" y="247015"/>
                  </a:cubicBezTo>
                  <a:lnTo>
                    <a:pt x="5171440" y="3705225"/>
                  </a:lnTo>
                  <a:cubicBezTo>
                    <a:pt x="5171440" y="3841623"/>
                    <a:pt x="5060823" y="3952240"/>
                    <a:pt x="4924425" y="3952240"/>
                  </a:cubicBezTo>
                  <a:lnTo>
                    <a:pt x="247015" y="3952240"/>
                  </a:lnTo>
                  <a:cubicBezTo>
                    <a:pt x="110617" y="3952240"/>
                    <a:pt x="0" y="3841623"/>
                    <a:pt x="0" y="3705225"/>
                  </a:cubicBezTo>
                  <a:close/>
                </a:path>
              </a:pathLst>
            </a:custGeom>
            <a:solidFill>
              <a:srgbClr val="0D1526"/>
            </a:solidFill>
            <a:ln w="381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5142845" y="2743200"/>
            <a:ext cx="1005840" cy="1005840"/>
            <a:chOff x="0" y="0"/>
            <a:chExt cx="1341120" cy="134112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864590" y="3840480"/>
            <a:ext cx="3657600" cy="640080"/>
            <a:chOff x="0" y="0"/>
            <a:chExt cx="487680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8768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C87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Plaintext in RAM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864590" y="4480560"/>
            <a:ext cx="3657600" cy="822960"/>
            <a:chOff x="0" y="0"/>
            <a:chExt cx="4876800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Loaded to volatile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memory only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42287" y="5845807"/>
            <a:ext cx="5499097" cy="3853177"/>
            <a:chOff x="0" y="0"/>
            <a:chExt cx="7332129" cy="513756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32090" cy="5137531"/>
            </a:xfrm>
            <a:custGeom>
              <a:avLst/>
              <a:gdLst/>
              <a:ahLst/>
              <a:cxnLst/>
              <a:rect r="r" b="b" t="t" l="l"/>
              <a:pathLst>
                <a:path h="5137531" w="7332090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7136384" y="0"/>
                  </a:lnTo>
                  <a:cubicBezTo>
                    <a:pt x="7244461" y="0"/>
                    <a:pt x="7332090" y="87630"/>
                    <a:pt x="7332090" y="195707"/>
                  </a:cubicBezTo>
                  <a:lnTo>
                    <a:pt x="7332090" y="4941824"/>
                  </a:lnTo>
                  <a:cubicBezTo>
                    <a:pt x="7332090" y="5049901"/>
                    <a:pt x="7244461" y="5137531"/>
                    <a:pt x="7136384" y="5137531"/>
                  </a:cubicBezTo>
                  <a:lnTo>
                    <a:pt x="195707" y="5137531"/>
                  </a:lnTo>
                  <a:cubicBezTo>
                    <a:pt x="87630" y="5137531"/>
                    <a:pt x="0" y="5049901"/>
                    <a:pt x="0" y="494182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5998464"/>
            <a:ext cx="4937760" cy="548640"/>
            <a:chOff x="0" y="0"/>
            <a:chExt cx="658368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B7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ChaCha20-Poly1305 (Layer 1)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22960" y="6725602"/>
            <a:ext cx="5120640" cy="548640"/>
            <a:chOff x="0" y="0"/>
            <a:chExt cx="68275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Stream cipher, hardware-accelerated on ARM &amp; x86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7386066"/>
            <a:ext cx="5120640" cy="548640"/>
            <a:chOff x="0" y="0"/>
            <a:chExt cx="6827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256-bit key derived from master exam key + date salt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22960" y="8010906"/>
            <a:ext cx="5120640" cy="548640"/>
            <a:chOff x="0" y="0"/>
            <a:chExt cx="6827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Poly1305 authenticator detects tampered ciphertext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8664321"/>
            <a:ext cx="5120640" cy="548640"/>
            <a:chOff x="0" y="0"/>
            <a:chExt cx="682752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Decryption key never persisted to disk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431023" y="5845807"/>
            <a:ext cx="5499097" cy="3853177"/>
            <a:chOff x="0" y="0"/>
            <a:chExt cx="7332129" cy="513756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32090" cy="5137531"/>
            </a:xfrm>
            <a:custGeom>
              <a:avLst/>
              <a:gdLst/>
              <a:ahLst/>
              <a:cxnLst/>
              <a:rect r="r" b="b" t="t" l="l"/>
              <a:pathLst>
                <a:path h="5137531" w="7332090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7136384" y="0"/>
                  </a:lnTo>
                  <a:cubicBezTo>
                    <a:pt x="7244461" y="0"/>
                    <a:pt x="7332090" y="87630"/>
                    <a:pt x="7332090" y="195707"/>
                  </a:cubicBezTo>
                  <a:lnTo>
                    <a:pt x="7332090" y="4941824"/>
                  </a:lnTo>
                  <a:cubicBezTo>
                    <a:pt x="7332090" y="5049901"/>
                    <a:pt x="7244461" y="5137531"/>
                    <a:pt x="7136384" y="5137531"/>
                  </a:cubicBezTo>
                  <a:lnTo>
                    <a:pt x="195707" y="5137531"/>
                  </a:lnTo>
                  <a:cubicBezTo>
                    <a:pt x="87630" y="5137531"/>
                    <a:pt x="0" y="5049901"/>
                    <a:pt x="0" y="494182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6711696" y="5998464"/>
            <a:ext cx="4937760" cy="548640"/>
            <a:chOff x="0" y="0"/>
            <a:chExt cx="658368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AES-256-GCM (Layer 2)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711696" y="6736468"/>
            <a:ext cx="5120640" cy="621023"/>
            <a:chOff x="0" y="0"/>
            <a:chExt cx="6827520" cy="82803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827520" cy="828030"/>
            </a:xfrm>
            <a:custGeom>
              <a:avLst/>
              <a:gdLst/>
              <a:ahLst/>
              <a:cxnLst/>
              <a:rect r="r" b="b" t="t" l="l"/>
              <a:pathLst>
                <a:path h="82803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28030"/>
                  </a:lnTo>
                  <a:lnTo>
                    <a:pt x="0" y="828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91" r="0" b="-10483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6827520" cy="847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Block cipher with Galois/Counter Mode authentication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711696" y="7405116"/>
            <a:ext cx="5120640" cy="548640"/>
            <a:chOff x="0" y="0"/>
            <a:chExt cx="682752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Industry-standard FIPS 140-2 compliant algorithm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711696" y="7991856"/>
            <a:ext cx="5120640" cy="548640"/>
            <a:chOff x="0" y="0"/>
            <a:chExt cx="682752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12-byte nonce unique per exam session per machine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711696" y="8635746"/>
            <a:ext cx="5120640" cy="548640"/>
            <a:chOff x="0" y="0"/>
            <a:chExt cx="682752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Auth tag verification before any plaintext is released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319759" y="5845807"/>
            <a:ext cx="5499097" cy="3853177"/>
            <a:chOff x="0" y="0"/>
            <a:chExt cx="7332129" cy="513756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332090" cy="5137531"/>
            </a:xfrm>
            <a:custGeom>
              <a:avLst/>
              <a:gdLst/>
              <a:ahLst/>
              <a:cxnLst/>
              <a:rect r="r" b="b" t="t" l="l"/>
              <a:pathLst>
                <a:path h="5137531" w="7332090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7136384" y="0"/>
                  </a:lnTo>
                  <a:cubicBezTo>
                    <a:pt x="7244461" y="0"/>
                    <a:pt x="7332090" y="87630"/>
                    <a:pt x="7332090" y="195707"/>
                  </a:cubicBezTo>
                  <a:lnTo>
                    <a:pt x="7332090" y="4941824"/>
                  </a:lnTo>
                  <a:cubicBezTo>
                    <a:pt x="7332090" y="5049901"/>
                    <a:pt x="7244461" y="5137531"/>
                    <a:pt x="7136384" y="5137531"/>
                  </a:cubicBezTo>
                  <a:lnTo>
                    <a:pt x="195707" y="5137531"/>
                  </a:lnTo>
                  <a:cubicBezTo>
                    <a:pt x="87630" y="5137531"/>
                    <a:pt x="0" y="5049901"/>
                    <a:pt x="0" y="494182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600432" y="5998464"/>
            <a:ext cx="4937760" cy="548640"/>
            <a:chOff x="0" y="0"/>
            <a:chExt cx="6583680" cy="731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7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Volatile RAM Constraint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600432" y="6718554"/>
            <a:ext cx="5120640" cy="621023"/>
            <a:chOff x="0" y="0"/>
            <a:chExt cx="6827520" cy="82803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827520" cy="828030"/>
            </a:xfrm>
            <a:custGeom>
              <a:avLst/>
              <a:gdLst/>
              <a:ahLst/>
              <a:cxnLst/>
              <a:rect r="r" b="b" t="t" l="l"/>
              <a:pathLst>
                <a:path h="82803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28030"/>
                  </a:lnTo>
                  <a:lnTo>
                    <a:pt x="0" y="828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91" r="0" b="-10483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6827520" cy="847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Decrypted paper exists ONLY in Python object in RAM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600432" y="7351776"/>
            <a:ext cx="5120640" cy="548640"/>
            <a:chOff x="0" y="0"/>
            <a:chExt cx="682752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mlockall() prevents OS swapping plaintext to disk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600432" y="8010906"/>
            <a:ext cx="5120640" cy="548640"/>
            <a:chOff x="0" y="0"/>
            <a:chExt cx="682752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682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Memory is zeroed on exam completion or crash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600432" y="8684902"/>
            <a:ext cx="5120640" cy="621023"/>
            <a:chOff x="0" y="0"/>
            <a:chExt cx="6827520" cy="82803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827520" cy="828030"/>
            </a:xfrm>
            <a:custGeom>
              <a:avLst/>
              <a:gdLst/>
              <a:ahLst/>
              <a:cxnLst/>
              <a:rect r="r" b="b" t="t" l="l"/>
              <a:pathLst>
                <a:path h="82803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28030"/>
                  </a:lnTo>
                  <a:lnTo>
                    <a:pt x="0" y="828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91" r="0" b="-10483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6827520" cy="847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Power-off destroys all plaintext — no forensic recovery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5247" y="-1469393"/>
            <a:ext cx="8242297" cy="8242297"/>
            <a:chOff x="0" y="0"/>
            <a:chExt cx="10989729" cy="10989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9691" cy="10989691"/>
            </a:xfrm>
            <a:custGeom>
              <a:avLst/>
              <a:gdLst/>
              <a:ahLst/>
              <a:cxnLst/>
              <a:rect r="r" b="b" t="t" l="l"/>
              <a:pathLst>
                <a:path h="10989691" w="10989691">
                  <a:moveTo>
                    <a:pt x="0" y="5494909"/>
                  </a:moveTo>
                  <a:cubicBezTo>
                    <a:pt x="0" y="2460117"/>
                    <a:pt x="2460117" y="0"/>
                    <a:pt x="5494909" y="0"/>
                  </a:cubicBezTo>
                  <a:cubicBezTo>
                    <a:pt x="8529701" y="0"/>
                    <a:pt x="10989691" y="2460117"/>
                    <a:pt x="10989691" y="5494909"/>
                  </a:cubicBezTo>
                  <a:cubicBezTo>
                    <a:pt x="10989691" y="8529701"/>
                    <a:pt x="8529574" y="10989691"/>
                    <a:pt x="5494909" y="10989691"/>
                  </a:cubicBezTo>
                  <a:cubicBezTo>
                    <a:pt x="2460244" y="10989691"/>
                    <a:pt x="0" y="8529574"/>
                    <a:pt x="0" y="5494909"/>
                  </a:cubicBezTo>
                  <a:close/>
                </a:path>
              </a:pathLst>
            </a:custGeom>
            <a:solidFill>
              <a:srgbClr val="00C8C8">
                <a:alpha val="0"/>
              </a:srgbClr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ASYMMETRIC ANSWER LOCKING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Cryptographic Layer 3  ·  RSA-4096 / Ed25519 Response Hardening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2651760"/>
            <a:ext cx="7276546" cy="4859026"/>
            <a:chOff x="0" y="0"/>
            <a:chExt cx="10275151" cy="6861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75062" cy="6861301"/>
            </a:xfrm>
            <a:custGeom>
              <a:avLst/>
              <a:gdLst/>
              <a:ahLst/>
              <a:cxnLst/>
              <a:rect r="r" b="b" t="t" l="l"/>
              <a:pathLst>
                <a:path h="6861301" w="1027506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10030079" y="0"/>
                  </a:lnTo>
                  <a:cubicBezTo>
                    <a:pt x="10165461" y="0"/>
                    <a:pt x="10275062" y="109728"/>
                    <a:pt x="10275062" y="244983"/>
                  </a:cubicBezTo>
                  <a:lnTo>
                    <a:pt x="10275062" y="6616319"/>
                  </a:lnTo>
                  <a:cubicBezTo>
                    <a:pt x="10275062" y="6751700"/>
                    <a:pt x="10165335" y="6861301"/>
                    <a:pt x="10030079" y="6861301"/>
                  </a:cubicBezTo>
                  <a:lnTo>
                    <a:pt x="244983" y="6861301"/>
                  </a:lnTo>
                  <a:cubicBezTo>
                    <a:pt x="109728" y="6861429"/>
                    <a:pt x="0" y="6751701"/>
                    <a:pt x="0" y="6616319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899896" y="3200400"/>
            <a:ext cx="914400" cy="914400"/>
            <a:chOff x="0" y="0"/>
            <a:chExt cx="1219200" cy="12192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0170" y="4313455"/>
            <a:ext cx="7315200" cy="517091"/>
            <a:chOff x="0" y="0"/>
            <a:chExt cx="9753600" cy="6894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689455"/>
            </a:xfrm>
            <a:custGeom>
              <a:avLst/>
              <a:gdLst/>
              <a:ahLst/>
              <a:cxnLst/>
              <a:rect r="r" b="b" t="t" l="l"/>
              <a:pathLst>
                <a:path h="68945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9455"/>
                  </a:lnTo>
                  <a:lnTo>
                    <a:pt x="0" y="6894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759" r="0" b="-23754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753600" cy="708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PUBLIC KEY (On Kiosk)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3050" y="4389120"/>
            <a:ext cx="7132320" cy="2743200"/>
            <a:chOff x="0" y="0"/>
            <a:chExt cx="950976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509760" cy="3676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RSA-4096 / Ed25519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Baked into OS image at build time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Used to encrypt all student responses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Cannot decrypt — encrypt-only mode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Public key hash: sha256:8f2a...c94e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94847" y="2651760"/>
            <a:ext cx="7276546" cy="4859026"/>
            <a:chOff x="0" y="0"/>
            <a:chExt cx="10275151" cy="6861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75062" cy="6861301"/>
            </a:xfrm>
            <a:custGeom>
              <a:avLst/>
              <a:gdLst/>
              <a:ahLst/>
              <a:cxnLst/>
              <a:rect r="r" b="b" t="t" l="l"/>
              <a:pathLst>
                <a:path h="6861301" w="1027506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10030079" y="0"/>
                  </a:lnTo>
                  <a:cubicBezTo>
                    <a:pt x="10165461" y="0"/>
                    <a:pt x="10275062" y="109728"/>
                    <a:pt x="10275062" y="244983"/>
                  </a:cubicBezTo>
                  <a:lnTo>
                    <a:pt x="10275062" y="6616319"/>
                  </a:lnTo>
                  <a:cubicBezTo>
                    <a:pt x="10275062" y="6751700"/>
                    <a:pt x="10165335" y="6861301"/>
                    <a:pt x="10030079" y="6861301"/>
                  </a:cubicBezTo>
                  <a:lnTo>
                    <a:pt x="244983" y="6861301"/>
                  </a:lnTo>
                  <a:cubicBezTo>
                    <a:pt x="109728" y="6861429"/>
                    <a:pt x="0" y="6751701"/>
                    <a:pt x="0" y="6616319"/>
                  </a:cubicBezTo>
                  <a:close/>
                </a:path>
              </a:pathLst>
            </a:custGeom>
            <a:solidFill>
              <a:srgbClr val="080C1A"/>
            </a:solidFill>
            <a:ln w="25400" cap="sq">
              <a:solidFill>
                <a:srgbClr val="FF4A6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075920" y="3200400"/>
            <a:ext cx="914400" cy="914400"/>
            <a:chOff x="0" y="0"/>
            <a:chExt cx="1219200" cy="1219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0" y="4251960"/>
            <a:ext cx="7315200" cy="640080"/>
            <a:chOff x="0" y="0"/>
            <a:chExt cx="975360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753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4A6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PRIVATE KEY (HQ Only)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49840" y="4389120"/>
            <a:ext cx="7132320" cy="2743200"/>
            <a:chOff x="0" y="0"/>
            <a:chExt cx="9509760" cy="365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509760" cy="3676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RSA-4096 / Ed25519 private half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Stored only at central headquarters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Physically air-gapped secure vault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Required to decrypt all submissions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Signed confirmation audit receipt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995370" y="4251960"/>
            <a:ext cx="1645920" cy="548640"/>
            <a:chOff x="0" y="0"/>
            <a:chExt cx="21945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94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ENCRYPT 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48927" y="4892040"/>
            <a:ext cx="1645920" cy="548640"/>
            <a:chOff x="0" y="0"/>
            <a:chExt cx="21945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194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4A6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← DECRYPT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18823" y="7851143"/>
            <a:ext cx="16850363" cy="1854203"/>
            <a:chOff x="0" y="0"/>
            <a:chExt cx="22467151" cy="24722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467061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467061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22269323" y="0"/>
                  </a:lnTo>
                  <a:cubicBezTo>
                    <a:pt x="22378543" y="0"/>
                    <a:pt x="22467061" y="88519"/>
                    <a:pt x="22467061" y="197739"/>
                  </a:cubicBezTo>
                  <a:lnTo>
                    <a:pt x="22467061" y="2274443"/>
                  </a:lnTo>
                  <a:cubicBezTo>
                    <a:pt x="22467061" y="2383663"/>
                    <a:pt x="22378543" y="2472182"/>
                    <a:pt x="22269323" y="2472182"/>
                  </a:cubicBezTo>
                  <a:lnTo>
                    <a:pt x="197739" y="2472182"/>
                  </a:lnTo>
                  <a:cubicBezTo>
                    <a:pt x="88519" y="2472309"/>
                    <a:pt x="0" y="2383663"/>
                    <a:pt x="0" y="2274443"/>
                  </a:cubicBezTo>
                  <a:close/>
                </a:path>
              </a:pathLst>
            </a:custGeom>
            <a:solidFill>
              <a:srgbClr val="051828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" y="8083296"/>
            <a:ext cx="822960" cy="822960"/>
            <a:chOff x="0" y="0"/>
            <a:chExt cx="1097280" cy="109728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011680" y="7955280"/>
            <a:ext cx="3657600" cy="548640"/>
            <a:chOff x="0" y="0"/>
            <a:chExt cx="48768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876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7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TAMPER GUARANTEE: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11680" y="8503920"/>
            <a:ext cx="15361920" cy="1060704"/>
            <a:chOff x="0" y="0"/>
            <a:chExt cx="20482560" cy="1414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48256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197" r="0" b="-2321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20482560" cy="1433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Since the private key never resides on the exam kiosk, no local actor — not the student, not the exam center operator — can decrypt or modify stored answers. Files are mathematically unreadable without central HQ authorization.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OPERATING SYSTEM LOCKDOWN CHECKLIST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Host Level Security Hardening — Infrastructure Lockdown Rules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2287" y="2371087"/>
            <a:ext cx="8516617" cy="1512313"/>
            <a:chOff x="0" y="0"/>
            <a:chExt cx="11355489" cy="20164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2511047"/>
            <a:ext cx="1671323" cy="464315"/>
            <a:chOff x="0" y="0"/>
            <a:chExt cx="2228431" cy="6190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2523744"/>
            <a:ext cx="1645920" cy="438912"/>
            <a:chOff x="0" y="0"/>
            <a:chExt cx="219456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523744" y="2523744"/>
            <a:ext cx="6217920" cy="438912"/>
            <a:chOff x="0" y="0"/>
            <a:chExt cx="829056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Privileges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8096" y="3035808"/>
            <a:ext cx="8046720" cy="440469"/>
            <a:chOff x="0" y="0"/>
            <a:chExt cx="10728960" cy="5872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exam-kiosk user: zero sudo privileges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3419856"/>
            <a:ext cx="8046720" cy="365760"/>
            <a:chOff x="0" y="0"/>
            <a:chExt cx="10728960" cy="48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/etc/sudoers — no exam-kiosk entry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11967" y="2371087"/>
            <a:ext cx="8516617" cy="1512313"/>
            <a:chOff x="0" y="0"/>
            <a:chExt cx="11355489" cy="20164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588503" y="2511047"/>
            <a:ext cx="1671323" cy="464315"/>
            <a:chOff x="0" y="0"/>
            <a:chExt cx="2228431" cy="6190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601200" y="2523744"/>
            <a:ext cx="1645920" cy="438912"/>
            <a:chOff x="0" y="0"/>
            <a:chExt cx="219456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93424" y="2523744"/>
            <a:ext cx="6217920" cy="438912"/>
            <a:chOff x="0" y="0"/>
            <a:chExt cx="829056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Shell Access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37776" y="3035808"/>
            <a:ext cx="8046720" cy="440469"/>
            <a:chOff x="0" y="0"/>
            <a:chExt cx="10728960" cy="5872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exam-kiosk shell set to /sbin/nologin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37776" y="3419856"/>
            <a:ext cx="8046720" cy="365760"/>
            <a:chOff x="0" y="0"/>
            <a:chExt cx="10728960" cy="487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passwd file: exam-kiosk:x:1001::/sbin/nologin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2287" y="4090159"/>
            <a:ext cx="8516617" cy="1512313"/>
            <a:chOff x="0" y="0"/>
            <a:chExt cx="11355489" cy="201641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18823" y="4230119"/>
            <a:ext cx="1671323" cy="464315"/>
            <a:chOff x="0" y="0"/>
            <a:chExt cx="2228431" cy="61908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31520" y="4242816"/>
            <a:ext cx="1645920" cy="438912"/>
            <a:chOff x="0" y="0"/>
            <a:chExt cx="219456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523744" y="4242816"/>
            <a:ext cx="6217920" cy="438912"/>
            <a:chOff x="0" y="0"/>
            <a:chExt cx="829056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TTY Switch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8096" y="4754880"/>
            <a:ext cx="8046720" cy="440469"/>
            <a:chOff x="0" y="0"/>
            <a:chExt cx="10728960" cy="5872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All virtual TTY switches disabled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68096" y="5138928"/>
            <a:ext cx="8046720" cy="365760"/>
            <a:chOff x="0" y="0"/>
            <a:chExt cx="10728960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VT switching: disabled via weston.ini / cage flags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11967" y="4090159"/>
            <a:ext cx="8516617" cy="1512313"/>
            <a:chOff x="0" y="0"/>
            <a:chExt cx="11355489" cy="201641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588503" y="4230119"/>
            <a:ext cx="1671323" cy="464315"/>
            <a:chOff x="0" y="0"/>
            <a:chExt cx="2228431" cy="61908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601200" y="4242816"/>
            <a:ext cx="1645920" cy="438912"/>
            <a:chOff x="0" y="0"/>
            <a:chExt cx="2194560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393424" y="4242816"/>
            <a:ext cx="6217920" cy="438912"/>
            <a:chOff x="0" y="0"/>
            <a:chExt cx="8290560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AppArmor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37776" y="4754880"/>
            <a:ext cx="8046720" cy="440469"/>
            <a:chOff x="0" y="0"/>
            <a:chExt cx="10728960" cy="5872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Strict AppArmor profiles loaded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37776" y="5138928"/>
            <a:ext cx="8046720" cy="365760"/>
            <a:chOff x="0" y="0"/>
            <a:chExt cx="10728960" cy="4876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Profile: /etc/apparmor.d/hope-exam-kiosk — enforce mode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42287" y="5809231"/>
            <a:ext cx="8516617" cy="1512313"/>
            <a:chOff x="0" y="0"/>
            <a:chExt cx="11355489" cy="201641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718823" y="5949191"/>
            <a:ext cx="1671323" cy="464315"/>
            <a:chOff x="0" y="0"/>
            <a:chExt cx="2228431" cy="6190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731520" y="5961888"/>
            <a:ext cx="1645920" cy="438912"/>
            <a:chOff x="0" y="0"/>
            <a:chExt cx="2194560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523744" y="5961888"/>
            <a:ext cx="6217920" cy="438912"/>
            <a:chOff x="0" y="0"/>
            <a:chExt cx="8290560" cy="5852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USB Mount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68096" y="6473952"/>
            <a:ext cx="8046720" cy="440469"/>
            <a:chOff x="0" y="0"/>
            <a:chExt cx="10728960" cy="5872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Automatic USB mounting disabled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68096" y="6858000"/>
            <a:ext cx="8046720" cy="365760"/>
            <a:chOff x="0" y="0"/>
            <a:chExt cx="10728960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udev rules: no auto-mount for removable media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411967" y="5809231"/>
            <a:ext cx="8516617" cy="1512313"/>
            <a:chOff x="0" y="0"/>
            <a:chExt cx="11355489" cy="201641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588503" y="5949191"/>
            <a:ext cx="1671323" cy="464315"/>
            <a:chOff x="0" y="0"/>
            <a:chExt cx="2228431" cy="61908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601200" y="5961888"/>
            <a:ext cx="1645920" cy="438912"/>
            <a:chOff x="0" y="0"/>
            <a:chExt cx="2194560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393424" y="5961888"/>
            <a:ext cx="6217920" cy="438912"/>
            <a:chOff x="0" y="0"/>
            <a:chExt cx="829056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Dumps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37776" y="6473952"/>
            <a:ext cx="8046720" cy="440469"/>
            <a:chOff x="0" y="0"/>
            <a:chExt cx="10728960" cy="5872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Core dumps disabled system-wide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37776" y="6858000"/>
            <a:ext cx="8046720" cy="365760"/>
            <a:chOff x="0" y="0"/>
            <a:chExt cx="1072896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ulimit -c 0 + /proc/sys/kernel/core_pattern=/dev/null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42287" y="7528303"/>
            <a:ext cx="8516617" cy="1512313"/>
            <a:chOff x="0" y="0"/>
            <a:chExt cx="11355489" cy="201641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718823" y="7668263"/>
            <a:ext cx="1671323" cy="464315"/>
            <a:chOff x="0" y="0"/>
            <a:chExt cx="2228431" cy="61908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731520" y="7680960"/>
            <a:ext cx="1645920" cy="438912"/>
            <a:chOff x="0" y="0"/>
            <a:chExt cx="2194560" cy="58521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2523744" y="7680960"/>
            <a:ext cx="6217920" cy="438912"/>
            <a:chOff x="0" y="0"/>
            <a:chExt cx="8290560" cy="58521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Ptrace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768096" y="8193024"/>
            <a:ext cx="8046720" cy="440469"/>
            <a:chOff x="0" y="0"/>
            <a:chExt cx="10728960" cy="5872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Ptrace scope restricted to 2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68096" y="8577072"/>
            <a:ext cx="8046720" cy="365760"/>
            <a:chOff x="0" y="0"/>
            <a:chExt cx="10728960" cy="4876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/proc/sys/kernel/yama/ptrace_scope = 2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411967" y="7528303"/>
            <a:ext cx="8516617" cy="1512313"/>
            <a:chOff x="0" y="0"/>
            <a:chExt cx="11355489" cy="201641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355451" cy="2016379"/>
            </a:xfrm>
            <a:custGeom>
              <a:avLst/>
              <a:gdLst/>
              <a:ahLst/>
              <a:cxnLst/>
              <a:rect r="r" b="b" t="t" l="l"/>
              <a:pathLst>
                <a:path h="2016379" w="11355451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11183366" y="0"/>
                  </a:lnTo>
                  <a:cubicBezTo>
                    <a:pt x="11278489" y="0"/>
                    <a:pt x="11355451" y="77089"/>
                    <a:pt x="11355451" y="172085"/>
                  </a:cubicBezTo>
                  <a:lnTo>
                    <a:pt x="11355451" y="1844294"/>
                  </a:lnTo>
                  <a:cubicBezTo>
                    <a:pt x="11355451" y="1939417"/>
                    <a:pt x="11278362" y="2016379"/>
                    <a:pt x="11183366" y="2016379"/>
                  </a:cubicBezTo>
                  <a:lnTo>
                    <a:pt x="172085" y="2016379"/>
                  </a:lnTo>
                  <a:cubicBezTo>
                    <a:pt x="77089" y="2016379"/>
                    <a:pt x="0" y="1939290"/>
                    <a:pt x="0" y="1844294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9588503" y="7668263"/>
            <a:ext cx="1671323" cy="464315"/>
            <a:chOff x="0" y="0"/>
            <a:chExt cx="2228431" cy="619087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28342" cy="618998"/>
            </a:xfrm>
            <a:custGeom>
              <a:avLst/>
              <a:gdLst/>
              <a:ahLst/>
              <a:cxnLst/>
              <a:rect r="r" b="b" t="t" l="l"/>
              <a:pathLst>
                <a:path h="618998" w="2228342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2150999" y="0"/>
                  </a:lnTo>
                  <a:cubicBezTo>
                    <a:pt x="2193798" y="0"/>
                    <a:pt x="2228342" y="34671"/>
                    <a:pt x="2228342" y="77343"/>
                  </a:cubicBezTo>
                  <a:lnTo>
                    <a:pt x="2228342" y="541655"/>
                  </a:lnTo>
                  <a:cubicBezTo>
                    <a:pt x="2228342" y="584454"/>
                    <a:pt x="2193671" y="618998"/>
                    <a:pt x="2150999" y="618998"/>
                  </a:cubicBezTo>
                  <a:lnTo>
                    <a:pt x="77343" y="618998"/>
                  </a:lnTo>
                  <a:cubicBezTo>
                    <a:pt x="34671" y="619125"/>
                    <a:pt x="0" y="584454"/>
                    <a:pt x="0" y="541655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9601200" y="7680960"/>
            <a:ext cx="1645920" cy="438912"/>
            <a:chOff x="0" y="0"/>
            <a:chExt cx="2194560" cy="5852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194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ENFORCED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393424" y="7680960"/>
            <a:ext cx="6217920" cy="438912"/>
            <a:chOff x="0" y="0"/>
            <a:chExt cx="8290560" cy="58521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829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19050"/>
              <a:ext cx="82905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Boot Target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637776" y="8193024"/>
            <a:ext cx="8046720" cy="440469"/>
            <a:chOff x="0" y="0"/>
            <a:chExt cx="10728960" cy="58729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728960" cy="587292"/>
            </a:xfrm>
            <a:custGeom>
              <a:avLst/>
              <a:gdLst/>
              <a:ahLst/>
              <a:cxnLst/>
              <a:rect r="r" b="b" t="t" l="l"/>
              <a:pathLst>
                <a:path h="5872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7292"/>
                  </a:lnTo>
                  <a:lnTo>
                    <a:pt x="0" y="587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139" r="0" b="-30578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19050"/>
              <a:ext cx="10728960" cy="606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Systemd target: kiosk-session.target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637776" y="8577072"/>
            <a:ext cx="8046720" cy="365760"/>
            <a:chOff x="0" y="0"/>
            <a:chExt cx="10728960" cy="48768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107289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graphical.target, no multi-user.target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35153" y="2736847"/>
            <a:ext cx="9156697" cy="9156697"/>
            <a:chOff x="0" y="0"/>
            <a:chExt cx="12208929" cy="12208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08891" cy="12208891"/>
            </a:xfrm>
            <a:custGeom>
              <a:avLst/>
              <a:gdLst/>
              <a:ahLst/>
              <a:cxnLst/>
              <a:rect r="r" b="b" t="t" l="l"/>
              <a:pathLst>
                <a:path h="12208891" w="12208891">
                  <a:moveTo>
                    <a:pt x="0" y="6104509"/>
                  </a:moveTo>
                  <a:cubicBezTo>
                    <a:pt x="0" y="2733040"/>
                    <a:pt x="2733040" y="0"/>
                    <a:pt x="6104509" y="0"/>
                  </a:cubicBezTo>
                  <a:cubicBezTo>
                    <a:pt x="9475978" y="0"/>
                    <a:pt x="12208891" y="2733040"/>
                    <a:pt x="12208891" y="6104509"/>
                  </a:cubicBezTo>
                  <a:cubicBezTo>
                    <a:pt x="12208891" y="9475978"/>
                    <a:pt x="9475851" y="12208891"/>
                    <a:pt x="6104509" y="12208891"/>
                  </a:cubicBezTo>
                  <a:cubicBezTo>
                    <a:pt x="2733167" y="12208891"/>
                    <a:pt x="0" y="9475851"/>
                    <a:pt x="0" y="6104509"/>
                  </a:cubicBezTo>
                  <a:close/>
                </a:path>
              </a:pathLst>
            </a:custGeom>
            <a:solidFill>
              <a:srgbClr val="FF4A6E">
                <a:alpha val="0"/>
              </a:srgbClr>
            </a:solidFill>
            <a:ln w="12700" cap="sq">
              <a:solidFill>
                <a:srgbClr val="FF4A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AIR-GAPPED NETWORK CONTROL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Network Elimination — Complete Physical &amp; Software Network Isolation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364743"/>
            <a:ext cx="7876537" cy="6805844"/>
            <a:chOff x="0" y="0"/>
            <a:chExt cx="10762831" cy="9299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742" cy="9299702"/>
            </a:xfrm>
            <a:custGeom>
              <a:avLst/>
              <a:gdLst/>
              <a:ahLst/>
              <a:cxnLst/>
              <a:rect r="r" b="b" t="t" l="l"/>
              <a:pathLst>
                <a:path h="9299702" w="1076274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518013" y="0"/>
                  </a:lnTo>
                  <a:cubicBezTo>
                    <a:pt x="10653141" y="0"/>
                    <a:pt x="10762742" y="109601"/>
                    <a:pt x="10762742" y="244729"/>
                  </a:cubicBezTo>
                  <a:lnTo>
                    <a:pt x="10762742" y="9054973"/>
                  </a:lnTo>
                  <a:cubicBezTo>
                    <a:pt x="10762742" y="9190101"/>
                    <a:pt x="10653141" y="9299702"/>
                    <a:pt x="10518013" y="9299702"/>
                  </a:cubicBezTo>
                  <a:lnTo>
                    <a:pt x="244729" y="9299702"/>
                  </a:lnTo>
                  <a:cubicBezTo>
                    <a:pt x="109601" y="9299829"/>
                    <a:pt x="0" y="9190228"/>
                    <a:pt x="0" y="9054973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FF4A6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66160" y="2596896"/>
            <a:ext cx="914400" cy="914400"/>
            <a:chOff x="0" y="0"/>
            <a:chExt cx="1219200" cy="12192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3657600"/>
            <a:ext cx="7680960" cy="548640"/>
            <a:chOff x="0" y="0"/>
            <a:chExt cx="102412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2412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4A6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BLOCKED ATTACK VECTORS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334256"/>
            <a:ext cx="7315200" cy="512064"/>
            <a:chOff x="0" y="0"/>
            <a:chExt cx="97536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Wi-Fi / WLAN connections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919472"/>
            <a:ext cx="7315200" cy="512064"/>
            <a:chOff x="0" y="0"/>
            <a:chExt cx="97536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Ethernet / LAN access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504688"/>
            <a:ext cx="7315200" cy="512064"/>
            <a:chOff x="0" y="0"/>
            <a:chExt cx="975360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Bluetooth data transfer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6089904"/>
            <a:ext cx="7315200" cy="512064"/>
            <a:chOff x="0" y="0"/>
            <a:chExt cx="97536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Hotspot / tethering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6675120"/>
            <a:ext cx="7315200" cy="512064"/>
            <a:chOff x="0" y="0"/>
            <a:chExt cx="975360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DNS resolution (all queries drop)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7260336"/>
            <a:ext cx="7315200" cy="512064"/>
            <a:chOff x="0" y="0"/>
            <a:chExt cx="97536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TCP outbound connections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7845552"/>
            <a:ext cx="7315200" cy="512064"/>
            <a:chOff x="0" y="0"/>
            <a:chExt cx="9753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UDP outbound packets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8430768"/>
            <a:ext cx="7315200" cy="512064"/>
            <a:chOff x="0" y="0"/>
            <a:chExt cx="975360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4A6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 ICMP (ping) requests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37647" y="2371087"/>
            <a:ext cx="8425177" cy="2207257"/>
            <a:chOff x="0" y="0"/>
            <a:chExt cx="11233569" cy="29430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23353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1233531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11037316" y="0"/>
                  </a:lnTo>
                  <a:cubicBezTo>
                    <a:pt x="11145648" y="0"/>
                    <a:pt x="11233531" y="87884"/>
                    <a:pt x="11233531" y="196215"/>
                  </a:cubicBezTo>
                  <a:lnTo>
                    <a:pt x="11233531" y="2746756"/>
                  </a:lnTo>
                  <a:cubicBezTo>
                    <a:pt x="11233531" y="2855087"/>
                    <a:pt x="11145648" y="2942971"/>
                    <a:pt x="11037316" y="2942971"/>
                  </a:cubicBezTo>
                  <a:lnTo>
                    <a:pt x="196215" y="2942971"/>
                  </a:lnTo>
                  <a:cubicBezTo>
                    <a:pt x="87884" y="2942971"/>
                    <a:pt x="0" y="2855214"/>
                    <a:pt x="0" y="274675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418320" y="2560320"/>
            <a:ext cx="731520" cy="731520"/>
            <a:chOff x="0" y="0"/>
            <a:chExt cx="975360" cy="97536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332720" y="2523744"/>
            <a:ext cx="6949440" cy="548640"/>
            <a:chOff x="0" y="0"/>
            <a:chExt cx="92659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265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NetworkManager Disabled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3070" y="3160014"/>
            <a:ext cx="8054340" cy="702564"/>
            <a:chOff x="0" y="0"/>
            <a:chExt cx="10739120" cy="936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39120" cy="936752"/>
            </a:xfrm>
            <a:custGeom>
              <a:avLst/>
              <a:gdLst/>
              <a:ahLst/>
              <a:cxnLst/>
              <a:rect r="r" b="b" t="t" l="l"/>
              <a:pathLst>
                <a:path h="936752" w="10739120">
                  <a:moveTo>
                    <a:pt x="0" y="98552"/>
                  </a:moveTo>
                  <a:cubicBezTo>
                    <a:pt x="0" y="44196"/>
                    <a:pt x="44196" y="0"/>
                    <a:pt x="98552" y="0"/>
                  </a:cubicBezTo>
                  <a:lnTo>
                    <a:pt x="10640568" y="0"/>
                  </a:lnTo>
                  <a:cubicBezTo>
                    <a:pt x="10695051" y="0"/>
                    <a:pt x="10739120" y="44196"/>
                    <a:pt x="10739120" y="98552"/>
                  </a:cubicBezTo>
                  <a:lnTo>
                    <a:pt x="10739120" y="838200"/>
                  </a:lnTo>
                  <a:cubicBezTo>
                    <a:pt x="10739120" y="892683"/>
                    <a:pt x="10694925" y="936752"/>
                    <a:pt x="10640568" y="936752"/>
                  </a:cubicBezTo>
                  <a:lnTo>
                    <a:pt x="98552" y="936752"/>
                  </a:lnTo>
                  <a:cubicBezTo>
                    <a:pt x="44196" y="936752"/>
                    <a:pt x="0" y="892556"/>
                    <a:pt x="0" y="838200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473184" y="3182112"/>
            <a:ext cx="7863840" cy="658368"/>
            <a:chOff x="0" y="0"/>
            <a:chExt cx="1048512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37" r="0" b="-1827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4851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systemctl disable --now NetworkManager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6880" y="3913632"/>
            <a:ext cx="8046720" cy="512064"/>
            <a:chOff x="0" y="0"/>
            <a:chExt cx="1072896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728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Wireless and wired daemon permanently off at boot.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37647" y="4785103"/>
            <a:ext cx="8425177" cy="2207257"/>
            <a:chOff x="0" y="0"/>
            <a:chExt cx="11233569" cy="294300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3353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1233531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11037316" y="0"/>
                  </a:lnTo>
                  <a:cubicBezTo>
                    <a:pt x="11145648" y="0"/>
                    <a:pt x="11233531" y="87884"/>
                    <a:pt x="11233531" y="196215"/>
                  </a:cubicBezTo>
                  <a:lnTo>
                    <a:pt x="11233531" y="2746756"/>
                  </a:lnTo>
                  <a:cubicBezTo>
                    <a:pt x="11233531" y="2855087"/>
                    <a:pt x="11145648" y="2942971"/>
                    <a:pt x="11037316" y="2942971"/>
                  </a:cubicBezTo>
                  <a:lnTo>
                    <a:pt x="196215" y="2942971"/>
                  </a:lnTo>
                  <a:cubicBezTo>
                    <a:pt x="87884" y="2942971"/>
                    <a:pt x="0" y="2855214"/>
                    <a:pt x="0" y="2746756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418320" y="4974336"/>
            <a:ext cx="731520" cy="731520"/>
            <a:chOff x="0" y="0"/>
            <a:chExt cx="975360" cy="97536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332720" y="4937760"/>
            <a:ext cx="6949440" cy="548640"/>
            <a:chOff x="0" y="0"/>
            <a:chExt cx="92659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9265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Bluetooth Disabled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23070" y="5574030"/>
            <a:ext cx="8054340" cy="702564"/>
            <a:chOff x="0" y="0"/>
            <a:chExt cx="10739120" cy="936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39120" cy="936752"/>
            </a:xfrm>
            <a:custGeom>
              <a:avLst/>
              <a:gdLst/>
              <a:ahLst/>
              <a:cxnLst/>
              <a:rect r="r" b="b" t="t" l="l"/>
              <a:pathLst>
                <a:path h="936752" w="10739120">
                  <a:moveTo>
                    <a:pt x="0" y="98552"/>
                  </a:moveTo>
                  <a:cubicBezTo>
                    <a:pt x="0" y="44196"/>
                    <a:pt x="44196" y="0"/>
                    <a:pt x="98552" y="0"/>
                  </a:cubicBezTo>
                  <a:lnTo>
                    <a:pt x="10640568" y="0"/>
                  </a:lnTo>
                  <a:cubicBezTo>
                    <a:pt x="10695051" y="0"/>
                    <a:pt x="10739120" y="44196"/>
                    <a:pt x="10739120" y="98552"/>
                  </a:cubicBezTo>
                  <a:lnTo>
                    <a:pt x="10739120" y="838200"/>
                  </a:lnTo>
                  <a:cubicBezTo>
                    <a:pt x="10739120" y="892683"/>
                    <a:pt x="10694925" y="936752"/>
                    <a:pt x="10640568" y="936752"/>
                  </a:cubicBezTo>
                  <a:lnTo>
                    <a:pt x="98552" y="936752"/>
                  </a:lnTo>
                  <a:cubicBezTo>
                    <a:pt x="44196" y="936752"/>
                    <a:pt x="0" y="892556"/>
                    <a:pt x="0" y="838200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473184" y="5596128"/>
            <a:ext cx="7863840" cy="658368"/>
            <a:chOff x="0" y="0"/>
            <a:chExt cx="10485120" cy="8778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37" r="0" b="-1827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04851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systemctl disable --now bluetooth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26880" y="6327648"/>
            <a:ext cx="8046720" cy="512064"/>
            <a:chOff x="0" y="0"/>
            <a:chExt cx="1072896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0728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BlueZ stack removed. No pairing, no HID injection.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0" y="7199119"/>
            <a:ext cx="8418824" cy="2123951"/>
            <a:chOff x="0" y="0"/>
            <a:chExt cx="11233569" cy="28340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33531" cy="2834035"/>
            </a:xfrm>
            <a:custGeom>
              <a:avLst/>
              <a:gdLst/>
              <a:ahLst/>
              <a:cxnLst/>
              <a:rect r="r" b="b" t="t" l="l"/>
              <a:pathLst>
                <a:path h="2834035" w="11233531">
                  <a:moveTo>
                    <a:pt x="0" y="188952"/>
                  </a:moveTo>
                  <a:cubicBezTo>
                    <a:pt x="0" y="84631"/>
                    <a:pt x="87884" y="0"/>
                    <a:pt x="196215" y="0"/>
                  </a:cubicBezTo>
                  <a:lnTo>
                    <a:pt x="11037316" y="0"/>
                  </a:lnTo>
                  <a:cubicBezTo>
                    <a:pt x="11145648" y="0"/>
                    <a:pt x="11233531" y="84631"/>
                    <a:pt x="11233531" y="188952"/>
                  </a:cubicBezTo>
                  <a:lnTo>
                    <a:pt x="11233531" y="2645083"/>
                  </a:lnTo>
                  <a:cubicBezTo>
                    <a:pt x="11233531" y="2749404"/>
                    <a:pt x="11145648" y="2834035"/>
                    <a:pt x="11037316" y="2834035"/>
                  </a:cubicBezTo>
                  <a:lnTo>
                    <a:pt x="196215" y="2834035"/>
                  </a:lnTo>
                  <a:cubicBezTo>
                    <a:pt x="87884" y="2834035"/>
                    <a:pt x="0" y="2749527"/>
                    <a:pt x="0" y="2645083"/>
                  </a:cubicBezTo>
                  <a:close/>
                </a:path>
              </a:pathLst>
            </a:custGeom>
            <a:solidFill>
              <a:srgbClr val="0D1526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418320" y="7388352"/>
            <a:ext cx="731520" cy="731520"/>
            <a:chOff x="0" y="0"/>
            <a:chExt cx="975360" cy="97536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332720" y="7351776"/>
            <a:ext cx="6949440" cy="548640"/>
            <a:chOff x="0" y="0"/>
            <a:chExt cx="926592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9265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iptables Hard Drop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323070" y="7988046"/>
            <a:ext cx="8054340" cy="702564"/>
            <a:chOff x="0" y="0"/>
            <a:chExt cx="10739120" cy="9367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739120" cy="936752"/>
            </a:xfrm>
            <a:custGeom>
              <a:avLst/>
              <a:gdLst/>
              <a:ahLst/>
              <a:cxnLst/>
              <a:rect r="r" b="b" t="t" l="l"/>
              <a:pathLst>
                <a:path h="936752" w="10739120">
                  <a:moveTo>
                    <a:pt x="0" y="98552"/>
                  </a:moveTo>
                  <a:cubicBezTo>
                    <a:pt x="0" y="44196"/>
                    <a:pt x="44196" y="0"/>
                    <a:pt x="98552" y="0"/>
                  </a:cubicBezTo>
                  <a:lnTo>
                    <a:pt x="10640568" y="0"/>
                  </a:lnTo>
                  <a:cubicBezTo>
                    <a:pt x="10695051" y="0"/>
                    <a:pt x="10739120" y="44196"/>
                    <a:pt x="10739120" y="98552"/>
                  </a:cubicBezTo>
                  <a:lnTo>
                    <a:pt x="10739120" y="838200"/>
                  </a:lnTo>
                  <a:cubicBezTo>
                    <a:pt x="10739120" y="892683"/>
                    <a:pt x="10694925" y="936752"/>
                    <a:pt x="10640568" y="936752"/>
                  </a:cubicBezTo>
                  <a:lnTo>
                    <a:pt x="98552" y="936752"/>
                  </a:lnTo>
                  <a:cubicBezTo>
                    <a:pt x="44196" y="936752"/>
                    <a:pt x="0" y="892556"/>
                    <a:pt x="0" y="838200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473184" y="8010144"/>
            <a:ext cx="7863840" cy="658368"/>
            <a:chOff x="0" y="0"/>
            <a:chExt cx="10485120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37" r="0" b="-18273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04851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iptables -P INPUT DROP  -P OUTPUT DROP  -P FORWARD DROP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26880" y="8741664"/>
            <a:ext cx="8046720" cy="512064"/>
            <a:chOff x="0" y="0"/>
            <a:chExt cx="1072896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0728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Default policy: DROP on all chains. Only loopback permitted.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44830" y="9323070"/>
            <a:ext cx="17198340" cy="702564"/>
            <a:chOff x="0" y="0"/>
            <a:chExt cx="22931120" cy="936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931120" cy="936752"/>
            </a:xfrm>
            <a:custGeom>
              <a:avLst/>
              <a:gdLst/>
              <a:ahLst/>
              <a:cxnLst/>
              <a:rect r="r" b="b" t="t" l="l"/>
              <a:pathLst>
                <a:path h="936752" w="229311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22807803" y="0"/>
                  </a:lnTo>
                  <a:cubicBezTo>
                    <a:pt x="22875875" y="0"/>
                    <a:pt x="22931120" y="55245"/>
                    <a:pt x="22931120" y="123317"/>
                  </a:cubicBezTo>
                  <a:lnTo>
                    <a:pt x="22931120" y="813435"/>
                  </a:lnTo>
                  <a:cubicBezTo>
                    <a:pt x="22931120" y="881507"/>
                    <a:pt x="22875875" y="936752"/>
                    <a:pt x="22807803" y="936752"/>
                  </a:cubicBezTo>
                  <a:lnTo>
                    <a:pt x="123317" y="936752"/>
                  </a:lnTo>
                  <a:cubicBezTo>
                    <a:pt x="55245" y="936752"/>
                    <a:pt x="0" y="881507"/>
                    <a:pt x="0" y="813435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14400" y="9381744"/>
            <a:ext cx="16642080" cy="548640"/>
            <a:chOff x="0" y="0"/>
            <a:chExt cx="2218944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C87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Result: HOPE OS kiosk is physically and software air-gapped. Zero TCP/UDP packets traverse any interface.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SECURE ADMINISTRATION OFFBOARDING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Screen 4 — SubmitView  ·  GPG-Encrypted USB Collection &amp; Clean Shutdown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364743"/>
            <a:ext cx="3225803" cy="5146043"/>
            <a:chOff x="0" y="0"/>
            <a:chExt cx="4301071" cy="6861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01109" cy="6861428"/>
            </a:xfrm>
            <a:custGeom>
              <a:avLst/>
              <a:gdLst/>
              <a:ahLst/>
              <a:cxnLst/>
              <a:rect r="r" b="b" t="t" l="l"/>
              <a:pathLst>
                <a:path h="6861428" w="430110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104513" y="0"/>
                  </a:lnTo>
                  <a:cubicBezTo>
                    <a:pt x="4213098" y="0"/>
                    <a:pt x="4301109" y="88011"/>
                    <a:pt x="4301109" y="196596"/>
                  </a:cubicBezTo>
                  <a:lnTo>
                    <a:pt x="4301109" y="6664833"/>
                  </a:lnTo>
                  <a:cubicBezTo>
                    <a:pt x="4301109" y="6773418"/>
                    <a:pt x="4213098" y="6861428"/>
                    <a:pt x="4104513" y="6861428"/>
                  </a:cubicBezTo>
                  <a:lnTo>
                    <a:pt x="196596" y="6861428"/>
                  </a:lnTo>
                  <a:cubicBezTo>
                    <a:pt x="88011" y="6861429"/>
                    <a:pt x="0" y="6773418"/>
                    <a:pt x="0" y="6664833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41783" y="2511047"/>
            <a:ext cx="1122683" cy="1122683"/>
            <a:chOff x="0" y="0"/>
            <a:chExt cx="1496911" cy="1496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4480" y="2523744"/>
            <a:ext cx="1097280" cy="1097280"/>
            <a:chOff x="0" y="0"/>
            <a:chExt cx="146304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4480" y="3840480"/>
            <a:ext cx="1005840" cy="1005840"/>
            <a:chOff x="0" y="0"/>
            <a:chExt cx="1341120" cy="13411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6656" y="4937760"/>
            <a:ext cx="2926080" cy="731520"/>
            <a:chOff x="0" y="0"/>
            <a:chExt cx="390144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1440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901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 Timer Expires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6656" y="5705856"/>
            <a:ext cx="2926080" cy="1645920"/>
            <a:chOff x="0" y="0"/>
            <a:chExt cx="3901440" cy="219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9014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ExamView locks all text input fields. Auto-saves final state. Transitions to SubmitView.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49040" y="4663440"/>
            <a:ext cx="329184" cy="640080"/>
            <a:chOff x="0" y="0"/>
            <a:chExt cx="438912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479" t="0" r="-19947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38912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10663" y="2364743"/>
            <a:ext cx="3225803" cy="5146043"/>
            <a:chOff x="0" y="0"/>
            <a:chExt cx="4301071" cy="6861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01109" cy="6861428"/>
            </a:xfrm>
            <a:custGeom>
              <a:avLst/>
              <a:gdLst/>
              <a:ahLst/>
              <a:cxnLst/>
              <a:rect r="r" b="b" t="t" l="l"/>
              <a:pathLst>
                <a:path h="6861428" w="430110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104513" y="0"/>
                  </a:lnTo>
                  <a:cubicBezTo>
                    <a:pt x="4213098" y="0"/>
                    <a:pt x="4301109" y="88011"/>
                    <a:pt x="4301109" y="196596"/>
                  </a:cubicBezTo>
                  <a:lnTo>
                    <a:pt x="4301109" y="6664833"/>
                  </a:lnTo>
                  <a:cubicBezTo>
                    <a:pt x="4301109" y="6773418"/>
                    <a:pt x="4213098" y="6861428"/>
                    <a:pt x="4104513" y="6861428"/>
                  </a:cubicBezTo>
                  <a:lnTo>
                    <a:pt x="196596" y="6861428"/>
                  </a:lnTo>
                  <a:cubicBezTo>
                    <a:pt x="88011" y="6861429"/>
                    <a:pt x="0" y="6773418"/>
                    <a:pt x="0" y="6664833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016503" y="2511047"/>
            <a:ext cx="1122683" cy="1122683"/>
            <a:chOff x="0" y="0"/>
            <a:chExt cx="1496911" cy="14969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029200" y="2523744"/>
            <a:ext cx="1097280" cy="1097280"/>
            <a:chOff x="0" y="0"/>
            <a:chExt cx="14630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29200" y="3840480"/>
            <a:ext cx="1005840" cy="1005840"/>
            <a:chOff x="0" y="0"/>
            <a:chExt cx="1341120" cy="134112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151376" y="4937760"/>
            <a:ext cx="2926080" cy="731520"/>
            <a:chOff x="0" y="0"/>
            <a:chExt cx="390144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1440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901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B7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USB Detection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51376" y="5705856"/>
            <a:ext cx="2926080" cy="1645920"/>
            <a:chOff x="0" y="0"/>
            <a:chExt cx="3901440" cy="2194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9014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Gio.VolumeMonitor.get().connect('volume-added') event fires when admin inserts drive.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223760" y="4663440"/>
            <a:ext cx="329184" cy="640080"/>
            <a:chOff x="0" y="0"/>
            <a:chExt cx="438912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479" t="0" r="-19947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38912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85383" y="2364743"/>
            <a:ext cx="3225803" cy="5146043"/>
            <a:chOff x="0" y="0"/>
            <a:chExt cx="4301071" cy="6861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01109" cy="6861428"/>
            </a:xfrm>
            <a:custGeom>
              <a:avLst/>
              <a:gdLst/>
              <a:ahLst/>
              <a:cxnLst/>
              <a:rect r="r" b="b" t="t" l="l"/>
              <a:pathLst>
                <a:path h="6861428" w="430110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104513" y="0"/>
                  </a:lnTo>
                  <a:cubicBezTo>
                    <a:pt x="4213098" y="0"/>
                    <a:pt x="4301109" y="88011"/>
                    <a:pt x="4301109" y="196596"/>
                  </a:cubicBezTo>
                  <a:lnTo>
                    <a:pt x="4301109" y="6664833"/>
                  </a:lnTo>
                  <a:cubicBezTo>
                    <a:pt x="4301109" y="6773418"/>
                    <a:pt x="4213098" y="6861428"/>
                    <a:pt x="4104513" y="6861428"/>
                  </a:cubicBezTo>
                  <a:lnTo>
                    <a:pt x="196596" y="6861428"/>
                  </a:lnTo>
                  <a:cubicBezTo>
                    <a:pt x="88011" y="6861429"/>
                    <a:pt x="0" y="6773418"/>
                    <a:pt x="0" y="6664833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491223" y="2511047"/>
            <a:ext cx="1122683" cy="1122683"/>
            <a:chOff x="0" y="0"/>
            <a:chExt cx="1496911" cy="14969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503920" y="2523744"/>
            <a:ext cx="1097280" cy="1097280"/>
            <a:chOff x="0" y="0"/>
            <a:chExt cx="1463040" cy="1463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503920" y="3840480"/>
            <a:ext cx="1005840" cy="1005840"/>
            <a:chOff x="0" y="0"/>
            <a:chExt cx="1341120" cy="134112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626096" y="4937760"/>
            <a:ext cx="2926080" cy="731520"/>
            <a:chOff x="0" y="0"/>
            <a:chExt cx="390144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01440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901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C87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GPG Payload Copy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26096" y="5705856"/>
            <a:ext cx="2926080" cy="1645920"/>
            <a:chOff x="0" y="0"/>
            <a:chExt cx="3901440" cy="2194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9014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auto-copies encrypted answer payload to USB root: answers_EX-2026-042.gpg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98480" y="4663440"/>
            <a:ext cx="329184" cy="640080"/>
            <a:chOff x="0" y="0"/>
            <a:chExt cx="438912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479" t="0" r="-19947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38912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60103" y="2364743"/>
            <a:ext cx="3225803" cy="5146043"/>
            <a:chOff x="0" y="0"/>
            <a:chExt cx="4301071" cy="68613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01109" cy="6861428"/>
            </a:xfrm>
            <a:custGeom>
              <a:avLst/>
              <a:gdLst/>
              <a:ahLst/>
              <a:cxnLst/>
              <a:rect r="r" b="b" t="t" l="l"/>
              <a:pathLst>
                <a:path h="6861428" w="430110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104513" y="0"/>
                  </a:lnTo>
                  <a:cubicBezTo>
                    <a:pt x="4213098" y="0"/>
                    <a:pt x="4301109" y="88011"/>
                    <a:pt x="4301109" y="196596"/>
                  </a:cubicBezTo>
                  <a:lnTo>
                    <a:pt x="4301109" y="6664833"/>
                  </a:lnTo>
                  <a:cubicBezTo>
                    <a:pt x="4301109" y="6773418"/>
                    <a:pt x="4213098" y="6861428"/>
                    <a:pt x="4104513" y="6861428"/>
                  </a:cubicBezTo>
                  <a:lnTo>
                    <a:pt x="196596" y="6861428"/>
                  </a:lnTo>
                  <a:cubicBezTo>
                    <a:pt x="88011" y="6861429"/>
                    <a:pt x="0" y="6773418"/>
                    <a:pt x="0" y="6664833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965943" y="2511047"/>
            <a:ext cx="1122683" cy="1122683"/>
            <a:chOff x="0" y="0"/>
            <a:chExt cx="1496911" cy="14969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978640" y="2523744"/>
            <a:ext cx="1097280" cy="1097280"/>
            <a:chOff x="0" y="0"/>
            <a:chExt cx="1463040" cy="1463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978640" y="3840480"/>
            <a:ext cx="1005840" cy="1005840"/>
            <a:chOff x="0" y="0"/>
            <a:chExt cx="1341120" cy="1341120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100816" y="4937760"/>
            <a:ext cx="2926080" cy="731520"/>
            <a:chOff x="0" y="0"/>
            <a:chExt cx="390144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901440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3901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Transfer Verification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100816" y="5705856"/>
            <a:ext cx="2926080" cy="1645920"/>
            <a:chOff x="0" y="0"/>
            <a:chExt cx="3901440" cy="21945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39014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SHA-256 checksum compared between local and USB copies. Mismatch triggers retry.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173200" y="4663440"/>
            <a:ext cx="329184" cy="640080"/>
            <a:chOff x="0" y="0"/>
            <a:chExt cx="438912" cy="8534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912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479" t="0" r="-19947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38912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434823" y="2364743"/>
            <a:ext cx="3225803" cy="5146043"/>
            <a:chOff x="0" y="0"/>
            <a:chExt cx="4301071" cy="686139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01109" cy="6861428"/>
            </a:xfrm>
            <a:custGeom>
              <a:avLst/>
              <a:gdLst/>
              <a:ahLst/>
              <a:cxnLst/>
              <a:rect r="r" b="b" t="t" l="l"/>
              <a:pathLst>
                <a:path h="6861428" w="430110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104513" y="0"/>
                  </a:lnTo>
                  <a:cubicBezTo>
                    <a:pt x="4213098" y="0"/>
                    <a:pt x="4301109" y="88011"/>
                    <a:pt x="4301109" y="196596"/>
                  </a:cubicBezTo>
                  <a:lnTo>
                    <a:pt x="4301109" y="6664833"/>
                  </a:lnTo>
                  <a:cubicBezTo>
                    <a:pt x="4301109" y="6773418"/>
                    <a:pt x="4213098" y="6861428"/>
                    <a:pt x="4104513" y="6861428"/>
                  </a:cubicBezTo>
                  <a:lnTo>
                    <a:pt x="196596" y="6861428"/>
                  </a:lnTo>
                  <a:cubicBezTo>
                    <a:pt x="88011" y="6861429"/>
                    <a:pt x="0" y="6773418"/>
                    <a:pt x="0" y="6664833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5440663" y="2511047"/>
            <a:ext cx="1122683" cy="1122683"/>
            <a:chOff x="0" y="0"/>
            <a:chExt cx="1496911" cy="14969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5453360" y="2523744"/>
            <a:ext cx="1097280" cy="1097280"/>
            <a:chOff x="0" y="0"/>
            <a:chExt cx="1463040" cy="14630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453360" y="3840480"/>
            <a:ext cx="1005840" cy="1005840"/>
            <a:chOff x="0" y="0"/>
            <a:chExt cx="1341120" cy="1341120"/>
          </a:xfrm>
        </p:grpSpPr>
        <p:sp>
          <p:nvSpPr>
            <p:cNvPr name="Freeform 88" id="88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575536" y="4937760"/>
            <a:ext cx="2926080" cy="731520"/>
            <a:chOff x="0" y="0"/>
            <a:chExt cx="390144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901440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39014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B7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Poweroff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575536" y="5705856"/>
            <a:ext cx="2926080" cy="1645920"/>
            <a:chOff x="0" y="0"/>
            <a:chExt cx="3901440" cy="21945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39014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verified success: subprocess.run(['systemctl', 'poweroff']) — clean shutdown.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42287" y="7766047"/>
            <a:ext cx="17203417" cy="1932937"/>
            <a:chOff x="0" y="0"/>
            <a:chExt cx="22937889" cy="257724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937851" cy="2577211"/>
            </a:xfrm>
            <a:custGeom>
              <a:avLst/>
              <a:gdLst/>
              <a:ahLst/>
              <a:cxnLst/>
              <a:rect r="r" b="b" t="t" l="l"/>
              <a:pathLst>
                <a:path h="2577211" w="22937851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22766020" y="0"/>
                  </a:lnTo>
                  <a:cubicBezTo>
                    <a:pt x="22860888" y="0"/>
                    <a:pt x="22937851" y="76962"/>
                    <a:pt x="22937851" y="171831"/>
                  </a:cubicBezTo>
                  <a:lnTo>
                    <a:pt x="22937851" y="2405380"/>
                  </a:lnTo>
                  <a:cubicBezTo>
                    <a:pt x="22937851" y="2500249"/>
                    <a:pt x="22860888" y="2577211"/>
                    <a:pt x="22766020" y="2577211"/>
                  </a:cubicBezTo>
                  <a:lnTo>
                    <a:pt x="171831" y="2577211"/>
                  </a:lnTo>
                  <a:cubicBezTo>
                    <a:pt x="76962" y="2577211"/>
                    <a:pt x="0" y="2500376"/>
                    <a:pt x="0" y="2405380"/>
                  </a:cubicBezTo>
                  <a:close/>
                </a:path>
              </a:pathLst>
            </a:custGeom>
            <a:solidFill>
              <a:srgbClr val="050A12"/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14400" y="7863840"/>
            <a:ext cx="16459200" cy="1737360"/>
            <a:chOff x="0" y="0"/>
            <a:chExt cx="21945600" cy="23164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19456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219456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 Gio.VolumeMonitor USB detection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monitor = Gio.VolumeMonitor.get()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monitor.connect("volume-added", lambda _, v: self.on_usb_inserted(v))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 After copy: sha256(local) == sha256(usb) → subprocess.run(["systemctl","poweroff"])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66447" y="1822447"/>
            <a:ext cx="9156697" cy="9156697"/>
            <a:chOff x="0" y="0"/>
            <a:chExt cx="12208929" cy="12208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08891" cy="12208891"/>
            </a:xfrm>
            <a:custGeom>
              <a:avLst/>
              <a:gdLst/>
              <a:ahLst/>
              <a:cxnLst/>
              <a:rect r="r" b="b" t="t" l="l"/>
              <a:pathLst>
                <a:path h="12208891" w="12208891">
                  <a:moveTo>
                    <a:pt x="0" y="6104509"/>
                  </a:moveTo>
                  <a:cubicBezTo>
                    <a:pt x="0" y="2733040"/>
                    <a:pt x="2733040" y="0"/>
                    <a:pt x="6104509" y="0"/>
                  </a:cubicBezTo>
                  <a:cubicBezTo>
                    <a:pt x="9475978" y="0"/>
                    <a:pt x="12208891" y="2733040"/>
                    <a:pt x="12208891" y="6104509"/>
                  </a:cubicBezTo>
                  <a:cubicBezTo>
                    <a:pt x="12208891" y="9475978"/>
                    <a:pt x="9475851" y="12208891"/>
                    <a:pt x="6104509" y="12208891"/>
                  </a:cubicBezTo>
                  <a:cubicBezTo>
                    <a:pt x="2733167" y="12208891"/>
                    <a:pt x="0" y="9475851"/>
                    <a:pt x="0" y="6104509"/>
                  </a:cubicBezTo>
                  <a:close/>
                </a:path>
              </a:pathLst>
            </a:custGeom>
            <a:solidFill>
              <a:srgbClr val="00C8C8">
                <a:alpha val="0"/>
              </a:srgbClr>
            </a:solidFill>
            <a:ln w="127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EDF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NEXT-GENERATION SEMANTIC SECURITY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6304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C8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Technical Roadmap — Phase 2 Upgrades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181863"/>
            <a:ext cx="2768603" cy="720347"/>
            <a:chOff x="0" y="0"/>
            <a:chExt cx="3691471" cy="9604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91509" cy="960501"/>
            </a:xfrm>
            <a:custGeom>
              <a:avLst/>
              <a:gdLst/>
              <a:ahLst/>
              <a:cxnLst/>
              <a:rect r="r" b="b" t="t" l="l"/>
              <a:pathLst>
                <a:path h="960501" w="369150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3539871" y="0"/>
                  </a:lnTo>
                  <a:cubicBezTo>
                    <a:pt x="3623564" y="0"/>
                    <a:pt x="3691509" y="67945"/>
                    <a:pt x="3691509" y="151638"/>
                  </a:cubicBezTo>
                  <a:lnTo>
                    <a:pt x="3691509" y="808863"/>
                  </a:lnTo>
                  <a:cubicBezTo>
                    <a:pt x="3691509" y="892556"/>
                    <a:pt x="3623564" y="960501"/>
                    <a:pt x="3539871" y="960501"/>
                  </a:cubicBezTo>
                  <a:lnTo>
                    <a:pt x="151638" y="960501"/>
                  </a:lnTo>
                  <a:cubicBezTo>
                    <a:pt x="67945" y="960501"/>
                    <a:pt x="0" y="892556"/>
                    <a:pt x="0" y="808863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2194560"/>
            <a:ext cx="2743200" cy="694944"/>
            <a:chOff x="0" y="0"/>
            <a:chExt cx="365760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6576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PHASE 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2514" y="3187703"/>
            <a:ext cx="5511803" cy="6517643"/>
            <a:chOff x="0" y="0"/>
            <a:chExt cx="7349071" cy="86901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9109" cy="8690228"/>
            </a:xfrm>
            <a:custGeom>
              <a:avLst/>
              <a:gdLst/>
              <a:ahLst/>
              <a:cxnLst/>
              <a:rect r="r" b="b" t="t" l="l"/>
              <a:pathLst>
                <a:path h="8690228" w="7349109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104126" y="0"/>
                  </a:lnTo>
                  <a:cubicBezTo>
                    <a:pt x="7239381" y="0"/>
                    <a:pt x="7349109" y="109728"/>
                    <a:pt x="7349109" y="244983"/>
                  </a:cubicBezTo>
                  <a:lnTo>
                    <a:pt x="7349109" y="8445246"/>
                  </a:lnTo>
                  <a:cubicBezTo>
                    <a:pt x="7349109" y="8580501"/>
                    <a:pt x="7239381" y="8690228"/>
                    <a:pt x="7104126" y="8690228"/>
                  </a:cubicBezTo>
                  <a:lnTo>
                    <a:pt x="244983" y="8690228"/>
                  </a:lnTo>
                  <a:cubicBezTo>
                    <a:pt x="109728" y="8690229"/>
                    <a:pt x="0" y="8580501"/>
                    <a:pt x="0" y="8445246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2247" y="3334007"/>
            <a:ext cx="1214123" cy="537467"/>
            <a:chOff x="0" y="0"/>
            <a:chExt cx="1618831" cy="7166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869" cy="716534"/>
            </a:xfrm>
            <a:custGeom>
              <a:avLst/>
              <a:gdLst/>
              <a:ahLst/>
              <a:cxnLst/>
              <a:rect r="r" b="b" t="t" l="l"/>
              <a:pathLst>
                <a:path h="716534" w="161886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516507" y="0"/>
                  </a:lnTo>
                  <a:cubicBezTo>
                    <a:pt x="1573022" y="0"/>
                    <a:pt x="1618869" y="45847"/>
                    <a:pt x="1618869" y="102362"/>
                  </a:cubicBezTo>
                  <a:lnTo>
                    <a:pt x="1618869" y="614172"/>
                  </a:lnTo>
                  <a:cubicBezTo>
                    <a:pt x="1618869" y="670687"/>
                    <a:pt x="1573022" y="716534"/>
                    <a:pt x="151650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00C8C8"/>
            </a:solidFill>
            <a:ln w="2540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94944" y="3346704"/>
            <a:ext cx="1188720" cy="512064"/>
            <a:chOff x="0" y="0"/>
            <a:chExt cx="158496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43200" y="3346704"/>
            <a:ext cx="914400" cy="914400"/>
            <a:chOff x="0" y="0"/>
            <a:chExt cx="1219200" cy="1219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68096" y="4389120"/>
            <a:ext cx="5120640" cy="768096"/>
            <a:chOff x="0" y="0"/>
            <a:chExt cx="682752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82752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8C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Offline Semantic Similarity Engine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7710" y="5208270"/>
            <a:ext cx="5219700" cy="519684"/>
            <a:chOff x="0" y="0"/>
            <a:chExt cx="6959600" cy="692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59600" cy="692912"/>
            </a:xfrm>
            <a:custGeom>
              <a:avLst/>
              <a:gdLst/>
              <a:ahLst/>
              <a:cxnLst/>
              <a:rect r="r" b="b" t="t" l="l"/>
              <a:pathLst>
                <a:path h="692912" w="6959600">
                  <a:moveTo>
                    <a:pt x="0" y="98933"/>
                  </a:moveTo>
                  <a:cubicBezTo>
                    <a:pt x="0" y="44323"/>
                    <a:pt x="44323" y="0"/>
                    <a:pt x="98933" y="0"/>
                  </a:cubicBezTo>
                  <a:lnTo>
                    <a:pt x="6860667" y="0"/>
                  </a:lnTo>
                  <a:cubicBezTo>
                    <a:pt x="6915277" y="0"/>
                    <a:pt x="6959600" y="44323"/>
                    <a:pt x="6959600" y="98933"/>
                  </a:cubicBezTo>
                  <a:lnTo>
                    <a:pt x="6959600" y="593979"/>
                  </a:lnTo>
                  <a:cubicBezTo>
                    <a:pt x="6959600" y="648589"/>
                    <a:pt x="6915277" y="692912"/>
                    <a:pt x="6860667" y="692912"/>
                  </a:cubicBezTo>
                  <a:lnTo>
                    <a:pt x="98933" y="692912"/>
                  </a:lnTo>
                  <a:cubicBezTo>
                    <a:pt x="44323" y="692912"/>
                    <a:pt x="0" y="648589"/>
                    <a:pt x="0" y="593979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5230368"/>
            <a:ext cx="5029200" cy="475488"/>
            <a:chOff x="0" y="0"/>
            <a:chExt cx="6705600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91" r="0" b="-1560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70560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sentence-transformers  ·  FAISS  ·  torch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8096" y="5852160"/>
            <a:ext cx="5120640" cy="822960"/>
            <a:chOff x="0" y="0"/>
            <a:chExt cx="682752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Local NLP model detects semantically similar answers across all students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8096" y="6766560"/>
            <a:ext cx="5120640" cy="822960"/>
            <a:chOff x="0" y="0"/>
            <a:chExt cx="682752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Identifies collusion patterns without any internet upload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8096" y="7680960"/>
            <a:ext cx="5120640" cy="822960"/>
            <a:chOff x="0" y="0"/>
            <a:chExt cx="682752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Cosine similarity threshold tunable per exam type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8096" y="8595360"/>
            <a:ext cx="5120640" cy="822960"/>
            <a:chOff x="0" y="0"/>
            <a:chExt cx="682752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Fully air-gapped inference — no cloud API dependency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24679" y="3141974"/>
            <a:ext cx="5511803" cy="6517643"/>
            <a:chOff x="0" y="0"/>
            <a:chExt cx="7349071" cy="86901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49109" cy="8690228"/>
            </a:xfrm>
            <a:custGeom>
              <a:avLst/>
              <a:gdLst/>
              <a:ahLst/>
              <a:cxnLst/>
              <a:rect r="r" b="b" t="t" l="l"/>
              <a:pathLst>
                <a:path h="8690228" w="7349109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104126" y="0"/>
                  </a:lnTo>
                  <a:cubicBezTo>
                    <a:pt x="7239381" y="0"/>
                    <a:pt x="7349109" y="109728"/>
                    <a:pt x="7349109" y="244983"/>
                  </a:cubicBezTo>
                  <a:lnTo>
                    <a:pt x="7349109" y="8445246"/>
                  </a:lnTo>
                  <a:cubicBezTo>
                    <a:pt x="7349109" y="8580501"/>
                    <a:pt x="7239381" y="8690228"/>
                    <a:pt x="7104126" y="8690228"/>
                  </a:cubicBezTo>
                  <a:lnTo>
                    <a:pt x="244983" y="8690228"/>
                  </a:lnTo>
                  <a:cubicBezTo>
                    <a:pt x="109728" y="8690229"/>
                    <a:pt x="0" y="8580501"/>
                    <a:pt x="0" y="8445246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570983" y="3334007"/>
            <a:ext cx="1214123" cy="537467"/>
            <a:chOff x="0" y="0"/>
            <a:chExt cx="1618831" cy="7166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18869" cy="716534"/>
            </a:xfrm>
            <a:custGeom>
              <a:avLst/>
              <a:gdLst/>
              <a:ahLst/>
              <a:cxnLst/>
              <a:rect r="r" b="b" t="t" l="l"/>
              <a:pathLst>
                <a:path h="716534" w="161886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516507" y="0"/>
                  </a:lnTo>
                  <a:cubicBezTo>
                    <a:pt x="1573022" y="0"/>
                    <a:pt x="1618869" y="45847"/>
                    <a:pt x="1618869" y="102362"/>
                  </a:cubicBezTo>
                  <a:lnTo>
                    <a:pt x="1618869" y="614172"/>
                  </a:lnTo>
                  <a:cubicBezTo>
                    <a:pt x="1618869" y="670687"/>
                    <a:pt x="1573022" y="716534"/>
                    <a:pt x="151650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FFB700"/>
            </a:solidFill>
            <a:ln w="25400" cap="sq">
              <a:solidFill>
                <a:srgbClr val="FFB70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583680" y="3346704"/>
            <a:ext cx="1188720" cy="512064"/>
            <a:chOff x="0" y="0"/>
            <a:chExt cx="158496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R-02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631936" y="3346704"/>
            <a:ext cx="914400" cy="914400"/>
            <a:chOff x="0" y="0"/>
            <a:chExt cx="1219200" cy="121920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656832" y="4389120"/>
            <a:ext cx="5120640" cy="768096"/>
            <a:chOff x="0" y="0"/>
            <a:chExt cx="682752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82752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B7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Shamir's Secret Sharing (Split-Key)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16446" y="5208270"/>
            <a:ext cx="5219700" cy="519684"/>
            <a:chOff x="0" y="0"/>
            <a:chExt cx="6959600" cy="6929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59600" cy="692912"/>
            </a:xfrm>
            <a:custGeom>
              <a:avLst/>
              <a:gdLst/>
              <a:ahLst/>
              <a:cxnLst/>
              <a:rect r="r" b="b" t="t" l="l"/>
              <a:pathLst>
                <a:path h="692912" w="6959600">
                  <a:moveTo>
                    <a:pt x="0" y="98933"/>
                  </a:moveTo>
                  <a:cubicBezTo>
                    <a:pt x="0" y="44323"/>
                    <a:pt x="44323" y="0"/>
                    <a:pt x="98933" y="0"/>
                  </a:cubicBezTo>
                  <a:lnTo>
                    <a:pt x="6860667" y="0"/>
                  </a:lnTo>
                  <a:cubicBezTo>
                    <a:pt x="6915277" y="0"/>
                    <a:pt x="6959600" y="44323"/>
                    <a:pt x="6959600" y="98933"/>
                  </a:cubicBezTo>
                  <a:lnTo>
                    <a:pt x="6959600" y="593979"/>
                  </a:lnTo>
                  <a:cubicBezTo>
                    <a:pt x="6959600" y="648589"/>
                    <a:pt x="6915277" y="692912"/>
                    <a:pt x="6860667" y="692912"/>
                  </a:cubicBezTo>
                  <a:lnTo>
                    <a:pt x="98933" y="692912"/>
                  </a:lnTo>
                  <a:cubicBezTo>
                    <a:pt x="44323" y="692912"/>
                    <a:pt x="0" y="648589"/>
                    <a:pt x="0" y="593979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711696" y="5230368"/>
            <a:ext cx="5029200" cy="475488"/>
            <a:chOff x="0" y="0"/>
            <a:chExt cx="6705600" cy="6339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70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91" r="0" b="-15609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670560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sslib  ·  cryptography  ·  threshold n-of-m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656832" y="5852160"/>
            <a:ext cx="5120640" cy="822960"/>
            <a:chOff x="0" y="0"/>
            <a:chExt cx="682752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Master decryption key split into N shares (e.g. 5-of-8 threshold)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656832" y="6766560"/>
            <a:ext cx="5120640" cy="822960"/>
            <a:chOff x="0" y="0"/>
            <a:chExt cx="682752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No single administrator can decrypt answers alone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656832" y="7680960"/>
            <a:ext cx="5120640" cy="822960"/>
            <a:chOff x="0" y="0"/>
            <a:chExt cx="682752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Shares distributed to independent trustees pre-exam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56832" y="8595360"/>
            <a:ext cx="5120640" cy="822960"/>
            <a:chOff x="0" y="0"/>
            <a:chExt cx="682752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Key reconstruction requires quorum — prevents insider decryption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279382" y="3141974"/>
            <a:ext cx="5511803" cy="6517643"/>
            <a:chOff x="0" y="0"/>
            <a:chExt cx="7349071" cy="869019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49109" cy="8690228"/>
            </a:xfrm>
            <a:custGeom>
              <a:avLst/>
              <a:gdLst/>
              <a:ahLst/>
              <a:cxnLst/>
              <a:rect r="r" b="b" t="t" l="l"/>
              <a:pathLst>
                <a:path h="8690228" w="7349109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104126" y="0"/>
                  </a:lnTo>
                  <a:cubicBezTo>
                    <a:pt x="7239381" y="0"/>
                    <a:pt x="7349109" y="109728"/>
                    <a:pt x="7349109" y="244983"/>
                  </a:cubicBezTo>
                  <a:lnTo>
                    <a:pt x="7349109" y="8445246"/>
                  </a:lnTo>
                  <a:cubicBezTo>
                    <a:pt x="7349109" y="8580501"/>
                    <a:pt x="7239381" y="8690228"/>
                    <a:pt x="7104126" y="8690228"/>
                  </a:cubicBezTo>
                  <a:lnTo>
                    <a:pt x="244983" y="8690228"/>
                  </a:lnTo>
                  <a:cubicBezTo>
                    <a:pt x="109728" y="8690229"/>
                    <a:pt x="0" y="8580501"/>
                    <a:pt x="0" y="8445246"/>
                  </a:cubicBezTo>
                  <a:close/>
                </a:path>
              </a:pathLst>
            </a:custGeom>
            <a:solidFill>
              <a:srgbClr val="0D1526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459719" y="3334007"/>
            <a:ext cx="1214123" cy="537467"/>
            <a:chOff x="0" y="0"/>
            <a:chExt cx="1618831" cy="71662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18869" cy="716534"/>
            </a:xfrm>
            <a:custGeom>
              <a:avLst/>
              <a:gdLst/>
              <a:ahLst/>
              <a:cxnLst/>
              <a:rect r="r" b="b" t="t" l="l"/>
              <a:pathLst>
                <a:path h="716534" w="1618869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516507" y="0"/>
                  </a:lnTo>
                  <a:cubicBezTo>
                    <a:pt x="1573022" y="0"/>
                    <a:pt x="1618869" y="45847"/>
                    <a:pt x="1618869" y="102362"/>
                  </a:cubicBezTo>
                  <a:lnTo>
                    <a:pt x="1618869" y="614172"/>
                  </a:lnTo>
                  <a:cubicBezTo>
                    <a:pt x="1618869" y="670687"/>
                    <a:pt x="1573022" y="716534"/>
                    <a:pt x="1516507" y="716534"/>
                  </a:cubicBezTo>
                  <a:lnTo>
                    <a:pt x="102362" y="716534"/>
                  </a:lnTo>
                  <a:cubicBezTo>
                    <a:pt x="45847" y="716661"/>
                    <a:pt x="0" y="670814"/>
                    <a:pt x="0" y="614299"/>
                  </a:cubicBezTo>
                  <a:close/>
                </a:path>
              </a:pathLst>
            </a:custGeom>
            <a:solidFill>
              <a:srgbClr val="00C87A"/>
            </a:solidFill>
            <a:ln w="25400" cap="sq">
              <a:solidFill>
                <a:srgbClr val="00C87A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472416" y="3346704"/>
            <a:ext cx="1188720" cy="512064"/>
            <a:chOff x="0" y="0"/>
            <a:chExt cx="158496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A0F1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R-03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520672" y="3346704"/>
            <a:ext cx="914400" cy="914400"/>
            <a:chOff x="0" y="0"/>
            <a:chExt cx="1219200" cy="121920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545568" y="4389120"/>
            <a:ext cx="5120640" cy="768096"/>
            <a:chOff x="0" y="0"/>
            <a:chExt cx="682752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682752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87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Zero-Knowledge Proof Integrity Layer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505182" y="5208270"/>
            <a:ext cx="5219700" cy="519684"/>
            <a:chOff x="0" y="0"/>
            <a:chExt cx="6959600" cy="69291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959600" cy="692912"/>
            </a:xfrm>
            <a:custGeom>
              <a:avLst/>
              <a:gdLst/>
              <a:ahLst/>
              <a:cxnLst/>
              <a:rect r="r" b="b" t="t" l="l"/>
              <a:pathLst>
                <a:path h="692912" w="6959600">
                  <a:moveTo>
                    <a:pt x="0" y="98933"/>
                  </a:moveTo>
                  <a:cubicBezTo>
                    <a:pt x="0" y="44323"/>
                    <a:pt x="44323" y="0"/>
                    <a:pt x="98933" y="0"/>
                  </a:cubicBezTo>
                  <a:lnTo>
                    <a:pt x="6860667" y="0"/>
                  </a:lnTo>
                  <a:cubicBezTo>
                    <a:pt x="6915277" y="0"/>
                    <a:pt x="6959600" y="44323"/>
                    <a:pt x="6959600" y="98933"/>
                  </a:cubicBezTo>
                  <a:lnTo>
                    <a:pt x="6959600" y="593979"/>
                  </a:lnTo>
                  <a:cubicBezTo>
                    <a:pt x="6959600" y="648589"/>
                    <a:pt x="6915277" y="692912"/>
                    <a:pt x="6860667" y="692912"/>
                  </a:cubicBezTo>
                  <a:lnTo>
                    <a:pt x="98933" y="692912"/>
                  </a:lnTo>
                  <a:cubicBezTo>
                    <a:pt x="44323" y="692912"/>
                    <a:pt x="0" y="648589"/>
                    <a:pt x="0" y="593979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5A6578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600432" y="5230368"/>
            <a:ext cx="5029200" cy="475488"/>
            <a:chOff x="0" y="0"/>
            <a:chExt cx="6705600" cy="6339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70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91" r="0" b="-1560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670560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snarkjs  ·  circom  ·  groth16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545568" y="5852160"/>
            <a:ext cx="5120640" cy="822960"/>
            <a:chOff x="0" y="0"/>
            <a:chExt cx="6827520" cy="10972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Students prove exam completion without revealing answers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545568" y="6766560"/>
            <a:ext cx="5120640" cy="822960"/>
            <a:chOff x="0" y="0"/>
            <a:chExt cx="6827520" cy="10972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ZK-SNARK proof verifies session integrity without decryption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545568" y="7680960"/>
            <a:ext cx="5120640" cy="822960"/>
            <a:chOff x="0" y="0"/>
            <a:chExt cx="6827520" cy="10972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Audit authority confirms compliance with cryptographic proof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545568" y="8595360"/>
            <a:ext cx="5120640" cy="822960"/>
            <a:chOff x="0" y="0"/>
            <a:chExt cx="6827520" cy="10972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›  Eliminates any trust assumption from exam center operators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44830" y="9781546"/>
            <a:ext cx="17198340" cy="556260"/>
            <a:chOff x="0" y="0"/>
            <a:chExt cx="22931120" cy="7416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931120" cy="741680"/>
            </a:xfrm>
            <a:custGeom>
              <a:avLst/>
              <a:gdLst/>
              <a:ahLst/>
              <a:cxnLst/>
              <a:rect r="r" b="b" t="t" l="l"/>
              <a:pathLst>
                <a:path h="741680" w="22931120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2807549" y="0"/>
                  </a:lnTo>
                  <a:cubicBezTo>
                    <a:pt x="22875875" y="0"/>
                    <a:pt x="22931120" y="55372"/>
                    <a:pt x="22931120" y="123571"/>
                  </a:cubicBezTo>
                  <a:lnTo>
                    <a:pt x="22931120" y="618109"/>
                  </a:lnTo>
                  <a:cubicBezTo>
                    <a:pt x="22931120" y="686435"/>
                    <a:pt x="22875748" y="741680"/>
                    <a:pt x="22807549" y="741680"/>
                  </a:cubicBezTo>
                  <a:lnTo>
                    <a:pt x="123571" y="741680"/>
                  </a:lnTo>
                  <a:cubicBezTo>
                    <a:pt x="55372" y="741680"/>
                    <a:pt x="0" y="686308"/>
                    <a:pt x="0" y="618109"/>
                  </a:cubicBezTo>
                  <a:close/>
                </a:path>
              </a:pathLst>
            </a:custGeom>
            <a:solidFill>
              <a:srgbClr val="050A12"/>
            </a:solidFill>
            <a:ln w="7620" cap="sq">
              <a:solidFill>
                <a:srgbClr val="00C8C8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14400" y="9752971"/>
            <a:ext cx="16642080" cy="457200"/>
            <a:chOff x="0" y="0"/>
            <a:chExt cx="22189440" cy="609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189439" cy="609600"/>
            </a:xfrm>
            <a:custGeom>
              <a:avLst/>
              <a:gdLst/>
              <a:ahLst/>
              <a:cxnLst/>
              <a:rect r="r" b="b" t="t" l="l"/>
              <a:pathLst>
                <a:path h="6096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255" r="0" b="-65925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221894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HOPE OS  ·  Team GrowMore  ·  FAR AWAY Hackathon 2026  ·  </a:t>
              </a:r>
              <a:r>
                <a:rPr lang="en-US" sz="1800" u="sng">
                  <a:solidFill>
                    <a:srgbClr val="E8EEF6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7" tooltip="https://aditisingh0102.github.io/trust-exam-shield/"/>
                </a:rPr>
                <a:t>aditisingh0102.github.io/trust-exam-shield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DAHMkATuxCg</dc:identifier>
  <dcterms:modified xsi:type="dcterms:W3CDTF">2011-08-01T06:04:30Z</dcterms:modified>
  <cp:revision>1</cp:revision>
  <dc:title>HOPE_OS_Pitch_Deck.pptx</dc:title>
</cp:coreProperties>
</file>