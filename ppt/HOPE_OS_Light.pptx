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4114800" cy="4114800"/>
          </a:xfrm>
          <a:prstGeom prst="ellipse">
            <a:avLst/>
          </a:prstGeom>
          <a:solidFill>
            <a:srgbClr val="0096A0">
              <a:alpha val="12000"/>
            </a:srgbClr>
          </a:solidFill>
          <a:ln w="12700">
            <a:solidFill>
              <a:srgbClr val="0096A0">
                <a:alpha val="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743200"/>
            <a:ext cx="3474720" cy="3474720"/>
          </a:xfrm>
          <a:prstGeom prst="ellipse">
            <a:avLst/>
          </a:prstGeom>
          <a:solidFill>
            <a:srgbClr val="0096A0">
              <a:alpha val="8000"/>
            </a:srgbClr>
          </a:solidFill>
          <a:ln w="12700">
            <a:solidFill>
              <a:srgbClr val="0096A0">
                <a:alpha val="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325880"/>
            <a:ext cx="822960" cy="914400"/>
          </a:xfrm>
          <a:prstGeom prst="roundRect">
            <a:avLst>
              <a:gd name="adj" fmla="val 13333"/>
            </a:avLst>
          </a:prstGeom>
          <a:solidFill>
            <a:srgbClr val="E0F5F5"/>
          </a:solidFill>
          <a:ln w="19050">
            <a:solidFill>
              <a:srgbClr val="009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258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96A0"/>
                </a:solidFill>
              </a:rPr>
              <a:t>⬡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63040" y="11887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spc="600" kern="0" dirty="0">
                <a:solidFill>
                  <a:srgbClr val="009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HOPE OS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1463040" y="21031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F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Exam Kiosk Application &amp; Custom OS Environment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463040" y="2697480"/>
            <a:ext cx="5943600" cy="0"/>
          </a:xfrm>
          <a:prstGeom prst="line">
            <a:avLst/>
          </a:prstGeom>
          <a:noFill/>
          <a:ln w="9525">
            <a:solidFill>
              <a:srgbClr val="80C8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28346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Production-ready, bulletproof examination kiosk system built with Python, GTK4, and Arch Linux — designed to replace vulnerable legacy testing environments with a zero-trust, fully offline, cryptographically hardened platform.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463040" y="3886200"/>
            <a:ext cx="1920240" cy="347472"/>
          </a:xfrm>
          <a:prstGeom prst="roundRect">
            <a:avLst>
              <a:gd name="adj" fmla="val 15789"/>
            </a:avLst>
          </a:prstGeom>
          <a:solidFill>
            <a:srgbClr val="E8F4F8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38862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3.11+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66160" y="3886200"/>
            <a:ext cx="1920240" cy="347472"/>
          </a:xfrm>
          <a:prstGeom prst="roundRect">
            <a:avLst>
              <a:gd name="adj" fmla="val 15789"/>
            </a:avLst>
          </a:prstGeom>
          <a:solidFill>
            <a:srgbClr val="E8F4F8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38862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GTK4 / PyGObject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0" y="3886200"/>
            <a:ext cx="1920240" cy="347472"/>
          </a:xfrm>
          <a:prstGeom prst="roundRect">
            <a:avLst>
              <a:gd name="adj" fmla="val 15789"/>
            </a:avLst>
          </a:prstGeom>
          <a:solidFill>
            <a:srgbClr val="E8F4F8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38862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 Linux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63040" y="44805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GROWMORE  ·  FAR AWAY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09728" cy="109728"/>
          </a:xfrm>
          <a:prstGeom prst="ellipse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64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VULNERABILITY OF MODERN TESTING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" y="49377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&amp; Problem Statement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8321040" cy="0"/>
          </a:xfrm>
          <a:prstGeom prst="line">
            <a:avLst/>
          </a:prstGeom>
          <a:noFill/>
          <a:ln w="9525">
            <a:solidFill>
              <a:srgbClr val="80C8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60120"/>
            <a:ext cx="411480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1E3E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2648" y="1161288"/>
            <a:ext cx="457200" cy="457200"/>
          </a:xfrm>
          <a:prstGeom prst="ellipse">
            <a:avLst/>
          </a:prstGeom>
          <a:solidFill>
            <a:srgbClr val="E0F5F5"/>
          </a:solidFill>
          <a:ln w="15240">
            <a:solidFill>
              <a:srgbClr val="009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1161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96A0"/>
                </a:solidFill>
              </a:rPr>
              <a:t>⊗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61288" y="1143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Attack Surface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2648" y="1554480"/>
            <a:ext cx="3730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CBT systems with live internet links expose critical exam data to MITM and remote exploitation vectors.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788920"/>
            <a:ext cx="411480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1E3E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" y="2990088"/>
            <a:ext cx="457200" cy="457200"/>
          </a:xfrm>
          <a:prstGeom prst="ellipse">
            <a:avLst/>
          </a:prstGeom>
          <a:solidFill>
            <a:srgbClr val="E0F5F5"/>
          </a:solidFill>
          <a:ln w="15240">
            <a:solidFill>
              <a:srgbClr val="009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2990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96A0"/>
                </a:solidFill>
              </a:rPr>
              <a:t>⊞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61288" y="2971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Escape Vulnerabilities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" y="3383280"/>
            <a:ext cx="3730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OS (Windows/macOS) allows Alt+Tab, taskbar access, terminal shortcuts, and virtualization bypass.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960120"/>
            <a:ext cx="411480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1E3E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56048" y="1161288"/>
            <a:ext cx="457200" cy="457200"/>
          </a:xfrm>
          <a:prstGeom prst="ellipse">
            <a:avLst/>
          </a:prstGeom>
          <a:solidFill>
            <a:srgbClr val="E0F5F5"/>
          </a:solidFill>
          <a:ln w="15240">
            <a:solidFill>
              <a:srgbClr val="009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56048" y="1161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96A0"/>
                </a:solidFill>
              </a:rPr>
              <a:t>⊡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04688" y="1143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Data Tampering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56048" y="1554480"/>
            <a:ext cx="3730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Unencrypted answer files and exam databases stored on writable disks allow post-exam modification.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788920"/>
            <a:ext cx="411480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1E3E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56048" y="2990088"/>
            <a:ext cx="457200" cy="457200"/>
          </a:xfrm>
          <a:prstGeom prst="ellipse">
            <a:avLst/>
          </a:prstGeom>
          <a:solidFill>
            <a:srgbClr val="E0F5F5"/>
          </a:solidFill>
          <a:ln w="15240">
            <a:solidFill>
              <a:srgbClr val="009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2990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96A0"/>
                </a:solidFill>
              </a:rPr>
              <a:t>⊘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04688" y="2971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Fraud at Scale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56048" y="3383280"/>
            <a:ext cx="3730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proctoring and weak ID checks enable proxy candidates and solver gangs to impersonate students.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" y="4663440"/>
            <a:ext cx="8321040" cy="320040"/>
          </a:xfrm>
          <a:prstGeom prst="roundRect">
            <a:avLst>
              <a:gd name="adj" fmla="val 17143"/>
            </a:avLst>
          </a:prstGeom>
          <a:solidFill>
            <a:srgbClr val="E0F5F5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 OS SOLUTION:  100% offline · Wayland kiosk · PAM auth · ChaCha20/AES-256 encryption · RSA-4096 response hardening · Full OS privilege lockdown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09728" cy="109728"/>
          </a:xfrm>
          <a:prstGeom prst="ellipse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64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ARCHITECTURE ECOSYSTEM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" y="49377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Architecture &amp; Environment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8321040" cy="0"/>
          </a:xfrm>
          <a:prstGeom prst="line">
            <a:avLst/>
          </a:prstGeom>
          <a:noFill/>
          <a:ln w="9525">
            <a:solidFill>
              <a:srgbClr val="80C8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60120"/>
            <a:ext cx="50292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80C8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6012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9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99669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 Linux (Base OS)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27101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Minimal, rolling-release, fully controllable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728216"/>
            <a:ext cx="50292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80C8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728216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9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176479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AppArmor + iptables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03911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Access Control + hard network firewall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496312"/>
            <a:ext cx="50292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80C8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496312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9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25328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cage (Wayland Kiosk)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280720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Single-app compositor, zero desktop, no taskbar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3264408"/>
            <a:ext cx="50292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80C8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264408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9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330098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3.11+ / PyGObject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357530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runtime with GTK4 widget toolkit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4032504"/>
            <a:ext cx="50292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80C8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032504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9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40690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GTK4 Application Layer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" y="434340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4-screen exam UI: Login → Briefing → Exam → Submit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577840" y="960120"/>
            <a:ext cx="3154680" cy="4005072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1E3E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715000" y="1051560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009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KIOSK CONSTRAINTS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760720" y="1389888"/>
            <a:ext cx="2834640" cy="0"/>
          </a:xfrm>
          <a:prstGeom prst="line">
            <a:avLst/>
          </a:prstGeom>
          <a:noFill/>
          <a:ln w="6350">
            <a:solidFill>
              <a:srgbClr val="80C8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15000" y="148132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algn="l" indent="0" marL="0">
              <a:buNone/>
            </a:pPr>
            <a:r>
              <a:rPr lang="en-US" sz="105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desktop environment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715000" y="1911096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algn="l" indent="0" marL="0">
              <a:buNone/>
            </a:pPr>
            <a:r>
              <a:rPr lang="en-US" sz="105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window decorations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715000" y="234086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algn="l" indent="0" marL="0">
              <a:buNone/>
            </a:pPr>
            <a:r>
              <a:rPr lang="en-US" sz="105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taskbar or dock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715000" y="277063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algn="l" indent="0" marL="0">
              <a:buNone/>
            </a:pPr>
            <a:r>
              <a:rPr lang="en-US" sz="105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shell / terminal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715000" y="32004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algn="l" indent="0" marL="0">
              <a:buNone/>
            </a:pPr>
            <a:r>
              <a:rPr lang="en-US" sz="105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TTY switch (Ctrl+Alt+Fn)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715000" y="363016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algn="l" indent="0" marL="0">
              <a:buNone/>
            </a:pPr>
            <a:r>
              <a:rPr lang="en-US" sz="105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USB auto-mount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715000" y="4059936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algn="l" indent="0" marL="0">
              <a:buNone/>
            </a:pPr>
            <a:r>
              <a:rPr lang="en-US" sz="105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NetworkManager daemon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715000" y="448970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algn="l" indent="0" marL="0">
              <a:buNone/>
            </a:pPr>
            <a:r>
              <a:rPr lang="en-US" sz="105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cage runs single GTK4 app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09728" cy="109728"/>
          </a:xfrm>
          <a:prstGeom prst="ellipse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64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ZERO-TRUST OFFLINE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" y="49377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Constraints — 100% Offline-First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8321040" cy="0"/>
          </a:xfrm>
          <a:prstGeom prst="line">
            <a:avLst/>
          </a:prstGeom>
          <a:noFill/>
          <a:ln w="9525">
            <a:solidFill>
              <a:srgbClr val="80C8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05840"/>
            <a:ext cx="2377440" cy="2377440"/>
          </a:xfrm>
          <a:prstGeom prst="ellipse">
            <a:avLst/>
          </a:prstGeom>
          <a:solidFill>
            <a:srgbClr val="E0F5F5"/>
          </a:solidFill>
          <a:ln w="25400">
            <a:solidFill>
              <a:srgbClr val="009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173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9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11480" y="2560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5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spc="15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017520" y="1005840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1E3E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18688" y="1188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9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WAN Dependency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18688" y="15544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data, authentication, and result storage are entirely local.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0" y="1005840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1E3E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44768" y="1188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9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Air-Gapped Operation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44768" y="15544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DNS resolution, no routing table, no gateway configuration.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17520" y="2834640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1E3E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18688" y="3017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9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Localized Data Routing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18688" y="33832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I/O paths terminate on-device: RAM for decryption, local SSD for encrypted answers.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0" y="2834640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1E3E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44768" y="3017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9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Attack Immunity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44768" y="33832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iptables drops all TCP/UDP. No socket, no API call, no DNS — attack surface is zero.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4645152"/>
            <a:ext cx="8321040" cy="347472"/>
          </a:xfrm>
          <a:prstGeom prst="roundRect">
            <a:avLst>
              <a:gd name="adj" fmla="val 15789"/>
            </a:avLst>
          </a:prstGeom>
          <a:solidFill>
            <a:srgbClr val="F0F4F8"/>
          </a:solidFill>
          <a:ln w="12700">
            <a:solidFill>
              <a:srgbClr val="80C8C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645152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systemctl disable NetworkManager bluetooth &amp;&amp; iptables -P INPUT DROP &amp;&amp; iptables -P OUTPUT DROP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09728" cy="109728"/>
          </a:xfrm>
          <a:prstGeom prst="ellipse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64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TERMINAL-INSPIRED USER INTERFACE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" y="49377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 System &amp; Visual Token Architecture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8321040" cy="0"/>
          </a:xfrm>
          <a:prstGeom prst="line">
            <a:avLst/>
          </a:prstGeom>
          <a:noFill/>
          <a:ln w="9525">
            <a:solidFill>
              <a:srgbClr val="80C8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60120"/>
            <a:ext cx="1536192" cy="822960"/>
          </a:xfrm>
          <a:prstGeom prst="roundRect">
            <a:avLst>
              <a:gd name="adj" fmla="val 6667"/>
            </a:avLst>
          </a:prstGeom>
          <a:solidFill>
            <a:srgbClr val="0A0F1E"/>
          </a:solidFill>
          <a:ln w="9525">
            <a:solidFill>
              <a:srgbClr val="80C8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82880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#0A0F1E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2066544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Navy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286000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--bg-primary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249631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background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12264" y="960120"/>
            <a:ext cx="1536192" cy="822960"/>
          </a:xfrm>
          <a:prstGeom prst="roundRect">
            <a:avLst>
              <a:gd name="adj" fmla="val 6667"/>
            </a:avLst>
          </a:prstGeom>
          <a:solidFill>
            <a:srgbClr val="050A12"/>
          </a:solidFill>
          <a:ln w="9525">
            <a:solidFill>
              <a:srgbClr val="80C8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12264" y="182880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#050A12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12264" y="2066544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Panel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12264" y="2286000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--bg-panel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112264" y="249631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&amp; sidebars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13048" y="960120"/>
            <a:ext cx="1536192" cy="822960"/>
          </a:xfrm>
          <a:prstGeom prst="roundRect">
            <a:avLst>
              <a:gd name="adj" fmla="val 6667"/>
            </a:avLst>
          </a:prstGeom>
          <a:solidFill>
            <a:srgbClr val="0D1526"/>
          </a:solidFill>
          <a:ln w="9525">
            <a:solidFill>
              <a:srgbClr val="80C8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13048" y="182880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#0D1526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813048" y="2066544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BG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13048" y="2286000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--bg-card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813048" y="249631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surfaces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513832" y="960120"/>
            <a:ext cx="1536192" cy="822960"/>
          </a:xfrm>
          <a:prstGeom prst="roundRect">
            <a:avLst>
              <a:gd name="adj" fmla="val 6667"/>
            </a:avLst>
          </a:prstGeom>
          <a:solidFill>
            <a:srgbClr val="00C8C8"/>
          </a:solidFill>
          <a:ln w="9525">
            <a:solidFill>
              <a:srgbClr val="80C8C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13832" y="182880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#00C8C8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513832" y="2066544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Teal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13832" y="2286000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--accent-primary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513832" y="249631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CTAs, borders, icons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214616" y="960120"/>
            <a:ext cx="1536192" cy="822960"/>
          </a:xfrm>
          <a:prstGeom prst="roundRect">
            <a:avLst>
              <a:gd name="adj" fmla="val 6667"/>
            </a:avLst>
          </a:prstGeom>
          <a:solidFill>
            <a:srgbClr val="E8EDF5"/>
          </a:solidFill>
          <a:ln w="9525">
            <a:solidFill>
              <a:srgbClr val="4A556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14616" y="182880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#E8EDF5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214616" y="2066544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White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214616" y="2286000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--text-primary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214616" y="249631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body text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" y="2834640"/>
            <a:ext cx="50292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1E3E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94360" y="29260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009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PHILOSOPHY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94360" y="32918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110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Monospace typography  →  zero cognitive overhead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94360" y="36118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110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 →  reduces eye strain in exam rooms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4360" y="39319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110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chrome  →  eliminates student distractions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94360" y="42519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110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custom theme  →  loaded via GtkCssProvider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94360" y="45720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110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animations except 3-strike shake feedback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577840" y="2834640"/>
            <a:ext cx="31546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1E3E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715000" y="292608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CSS Design Tokens */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715000" y="320040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D3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:root {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715000" y="347472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--bg-primary: #0A0F1E;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715000" y="3749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--accent: #00C8C8;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715000" y="402336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--text: #E8EDF5;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715000" y="429768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font: 'JetBrains Mono';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715000" y="457200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D3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09728" cy="109728"/>
          </a:xfrm>
          <a:prstGeom prst="ellipse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64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&amp; KIOSK ACCESS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" y="49377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1 — LoginView  ·  Secure PAM Authentication Flow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8321040" cy="0"/>
          </a:xfrm>
          <a:prstGeom prst="line">
            <a:avLst/>
          </a:prstGeom>
          <a:noFill/>
          <a:ln w="9525">
            <a:solidFill>
              <a:srgbClr val="80C8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60120"/>
            <a:ext cx="4114800" cy="4005072"/>
          </a:xfrm>
          <a:prstGeom prst="roundRect">
            <a:avLst>
              <a:gd name="adj" fmla="val 1826"/>
            </a:avLst>
          </a:prstGeom>
          <a:solidFill>
            <a:srgbClr val="FFFFFF"/>
          </a:solidFill>
          <a:ln w="12700">
            <a:solidFill>
              <a:srgbClr val="D1E3E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11556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09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HOPE OS LOGIN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1600200"/>
            <a:ext cx="3383280" cy="384048"/>
          </a:xfrm>
          <a:prstGeom prst="roundRect">
            <a:avLst>
              <a:gd name="adj" fmla="val 11905"/>
            </a:avLst>
          </a:prstGeom>
          <a:solidFill>
            <a:srgbClr val="EEF3F8"/>
          </a:solidFill>
          <a:ln w="12700">
            <a:solidFill>
              <a:srgbClr val="80C8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0020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exam-kiosk  [pre-filled]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" y="2103120"/>
            <a:ext cx="3383280" cy="384048"/>
          </a:xfrm>
          <a:prstGeom prst="roundRect">
            <a:avLst>
              <a:gd name="adj" fmla="val 11905"/>
            </a:avLst>
          </a:prstGeom>
          <a:solidFill>
            <a:srgbClr val="EEF3F8"/>
          </a:solidFill>
          <a:ln w="12700">
            <a:solidFill>
              <a:srgbClr val="80C8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031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● ● ● ● ●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7240" y="2651760"/>
            <a:ext cx="3383280" cy="384048"/>
          </a:xfrm>
          <a:prstGeom prst="roundRect">
            <a:avLst>
              <a:gd name="adj" fmla="val 11905"/>
            </a:avLst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65176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F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320040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47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Strike attempts:  ● ● ○    1 attempt remaining before lockout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463600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python-pam  ·  pam_authenticate()  ·  GTK CSS shake  ·  session.lock()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63440" y="960120"/>
            <a:ext cx="406908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1E3E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105156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9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Pre-Filled Username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1353312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username 'exam-kiosk' is hardcoded — no user can accidentally type the wrong account or attempt privilege escalation.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2331720"/>
            <a:ext cx="406908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1E3E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242316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9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PAM Verification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2724912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verified by Linux PAM (pam_authenticate). No external API, no network call — pure /etc/shadow hash check.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3703320"/>
            <a:ext cx="406908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1E3E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379476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9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3-Strike Lockout System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4096512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failed attempts triggers GTK CSS 'shake' animation and locks the session, requiring admin reset.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09728" cy="109728"/>
          </a:xfrm>
          <a:prstGeom prst="ellipse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64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MANDATED BRIEFING &amp; AUTOMATED COUNTDOWN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" y="49377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2 — InstructionsView  ·  Guardrails &amp; Forced Acknowledgment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8321040" cy="0"/>
          </a:xfrm>
          <a:prstGeom prst="line">
            <a:avLst/>
          </a:prstGeom>
          <a:noFill/>
          <a:ln w="9525">
            <a:solidFill>
              <a:srgbClr val="80C8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60120"/>
            <a:ext cx="4572000" cy="4005072"/>
          </a:xfrm>
          <a:prstGeom prst="roundRect">
            <a:avLst>
              <a:gd name="adj" fmla="val 1826"/>
            </a:avLst>
          </a:prstGeom>
          <a:solidFill>
            <a:srgbClr val="FFFFFF"/>
          </a:solidFill>
          <a:ln w="12700">
            <a:solidFill>
              <a:srgbClr val="D1E3E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07899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009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EXAMINATION RULES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481328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You must not leave the exam interface.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1865376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All responses are auto-saved every 30s.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2249424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No internet access is permitted.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263347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Three login failures will lock the session.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" y="3017520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Exam starts automatically after 60 seconds.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" y="3401568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Your answers will be encrypted on submit.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3785616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USB collection occurs at end of session.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" y="4297680"/>
            <a:ext cx="4160520" cy="347472"/>
          </a:xfrm>
          <a:prstGeom prst="roundRect">
            <a:avLst>
              <a:gd name="adj" fmla="val 13158"/>
            </a:avLst>
          </a:prstGeom>
          <a:solidFill>
            <a:srgbClr val="E0F5F5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297680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I acknowledge all examination rules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120640" y="960120"/>
            <a:ext cx="361188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1E3E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285232" y="10515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9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Terminal Box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85232" y="1353312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scrollable GTK TextView widget displays all exam rules in a terminal-styled read-only pane — students cannot modify it.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120640" y="2331720"/>
            <a:ext cx="361188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1E3E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285232" y="24231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9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Mandatory Acknowledgment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85232" y="2724912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'Begin Exam' button is disabled until the checkbox is checked. The UI enforces explicit rule acceptance before entry.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120640" y="3703320"/>
            <a:ext cx="361188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1E3E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285232" y="37947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9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60-Second Auto Countdown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85232" y="4096512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GLib.timeout_add() fires every second. At T=0, InstructionsView automatically transitions to ExamView whether checkbox is ticked or not.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120640" y="5047488"/>
            <a:ext cx="3611880" cy="292608"/>
          </a:xfrm>
          <a:prstGeom prst="roundRect">
            <a:avLst>
              <a:gd name="adj" fmla="val 15625"/>
            </a:avLst>
          </a:prstGeom>
          <a:solidFill>
            <a:srgbClr val="E0F5F5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5047488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Auto-start in:  00:42  —  exam begins regardless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09728" cy="109728"/>
          </a:xfrm>
          <a:prstGeom prst="ellipse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64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OPTIMIZED TESTING WORKSPACE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" y="49377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3 — ExamView  ·  Dual-Panel Examination Interface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8321040" cy="0"/>
          </a:xfrm>
          <a:prstGeom prst="line">
            <a:avLst/>
          </a:prstGeom>
          <a:noFill/>
          <a:ln w="9525">
            <a:solidFill>
              <a:srgbClr val="80C8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60120"/>
            <a:ext cx="8321040" cy="384048"/>
          </a:xfrm>
          <a:prstGeom prst="roundRect">
            <a:avLst>
              <a:gd name="adj" fmla="val 14286"/>
            </a:avLst>
          </a:prstGeom>
          <a:solidFill>
            <a:srgbClr val="EEF3F8"/>
          </a:solidFill>
          <a:ln w="12700">
            <a:solidFill>
              <a:srgbClr val="80C8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96012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HOPE OS EXAM  ·  Student: exam-kiosk  ·  Session: EX-2026-042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0" y="9601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Time: 01:42:17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444752"/>
            <a:ext cx="1298448" cy="352044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1E3E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536192"/>
            <a:ext cx="1115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9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 LIST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21208" y="1847088"/>
            <a:ext cx="402336" cy="256032"/>
          </a:xfrm>
          <a:prstGeom prst="roundRect">
            <a:avLst>
              <a:gd name="adj" fmla="val 14286"/>
            </a:avLst>
          </a:prstGeom>
          <a:solidFill>
            <a:srgbClr val="E0F5F5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1847088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33272" y="1847088"/>
            <a:ext cx="402336" cy="256032"/>
          </a:xfrm>
          <a:prstGeom prst="roundRect">
            <a:avLst>
              <a:gd name="adj" fmla="val 14286"/>
            </a:avLst>
          </a:prstGeom>
          <a:solidFill>
            <a:srgbClr val="E0F5F5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33272" y="1847088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21208" y="2167128"/>
            <a:ext cx="402336" cy="256032"/>
          </a:xfrm>
          <a:prstGeom prst="roundRect">
            <a:avLst>
              <a:gd name="adj" fmla="val 14286"/>
            </a:avLst>
          </a:prstGeom>
          <a:solidFill>
            <a:srgbClr val="E0F5F5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2167128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033272" y="2167128"/>
            <a:ext cx="402336" cy="256032"/>
          </a:xfrm>
          <a:prstGeom prst="roundRect">
            <a:avLst>
              <a:gd name="adj" fmla="val 14286"/>
            </a:avLst>
          </a:prstGeom>
          <a:solidFill>
            <a:srgbClr val="E0F5F5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3272" y="2167128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21208" y="2487168"/>
            <a:ext cx="402336" cy="256032"/>
          </a:xfrm>
          <a:prstGeom prst="roundRect">
            <a:avLst>
              <a:gd name="adj" fmla="val 14286"/>
            </a:avLst>
          </a:prstGeom>
          <a:solidFill>
            <a:srgbClr val="E0F5F5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2487168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033272" y="2487168"/>
            <a:ext cx="402336" cy="256032"/>
          </a:xfrm>
          <a:prstGeom prst="roundRect">
            <a:avLst>
              <a:gd name="adj" fmla="val 14286"/>
            </a:avLst>
          </a:prstGeom>
          <a:solidFill>
            <a:srgbClr val="E0F5F5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3272" y="2487168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21208" y="2807208"/>
            <a:ext cx="402336" cy="256032"/>
          </a:xfrm>
          <a:prstGeom prst="roundRect">
            <a:avLst>
              <a:gd name="adj" fmla="val 14286"/>
            </a:avLst>
          </a:prstGeom>
          <a:solidFill>
            <a:srgbClr val="E0F5F5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" y="2807208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033272" y="2807208"/>
            <a:ext cx="402336" cy="256032"/>
          </a:xfrm>
          <a:prstGeom prst="roundRect">
            <a:avLst>
              <a:gd name="adj" fmla="val 14286"/>
            </a:avLst>
          </a:prstGeom>
          <a:solidFill>
            <a:srgbClr val="F0F5FA"/>
          </a:solidFill>
          <a:ln w="12700">
            <a:solidFill>
              <a:srgbClr val="80C8C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33272" y="2807208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21208" y="3127248"/>
            <a:ext cx="402336" cy="256032"/>
          </a:xfrm>
          <a:prstGeom prst="roundRect">
            <a:avLst>
              <a:gd name="adj" fmla="val 14286"/>
            </a:avLst>
          </a:prstGeom>
          <a:solidFill>
            <a:srgbClr val="F0F5FA"/>
          </a:solidFill>
          <a:ln w="12700">
            <a:solidFill>
              <a:srgbClr val="80C8C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" y="3127248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33272" y="3127248"/>
            <a:ext cx="402336" cy="256032"/>
          </a:xfrm>
          <a:prstGeom prst="roundRect">
            <a:avLst>
              <a:gd name="adj" fmla="val 14286"/>
            </a:avLst>
          </a:prstGeom>
          <a:solidFill>
            <a:srgbClr val="F0F5FA"/>
          </a:solidFill>
          <a:ln w="12700">
            <a:solidFill>
              <a:srgbClr val="80C8C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33272" y="3127248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21208" y="3447288"/>
            <a:ext cx="402336" cy="256032"/>
          </a:xfrm>
          <a:prstGeom prst="roundRect">
            <a:avLst>
              <a:gd name="adj" fmla="val 14286"/>
            </a:avLst>
          </a:prstGeom>
          <a:solidFill>
            <a:srgbClr val="F0F5FA"/>
          </a:solidFill>
          <a:ln w="12700">
            <a:solidFill>
              <a:srgbClr val="80C8C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" y="3447288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033272" y="3447288"/>
            <a:ext cx="402336" cy="256032"/>
          </a:xfrm>
          <a:prstGeom prst="roundRect">
            <a:avLst>
              <a:gd name="adj" fmla="val 14286"/>
            </a:avLst>
          </a:prstGeom>
          <a:solidFill>
            <a:srgbClr val="F0F5FA"/>
          </a:solidFill>
          <a:ln w="12700">
            <a:solidFill>
              <a:srgbClr val="80C8C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33272" y="3447288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21208" y="3767328"/>
            <a:ext cx="402336" cy="256032"/>
          </a:xfrm>
          <a:prstGeom prst="roundRect">
            <a:avLst>
              <a:gd name="adj" fmla="val 14286"/>
            </a:avLst>
          </a:prstGeom>
          <a:solidFill>
            <a:srgbClr val="F0F5FA"/>
          </a:solidFill>
          <a:ln w="12700">
            <a:solidFill>
              <a:srgbClr val="80C8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1208" y="3767328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033272" y="3767328"/>
            <a:ext cx="402336" cy="256032"/>
          </a:xfrm>
          <a:prstGeom prst="roundRect">
            <a:avLst>
              <a:gd name="adj" fmla="val 14286"/>
            </a:avLst>
          </a:prstGeom>
          <a:solidFill>
            <a:srgbClr val="F0F5FA"/>
          </a:solidFill>
          <a:ln w="12700">
            <a:solidFill>
              <a:srgbClr val="80C8C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33272" y="3767328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21208" y="4087368"/>
            <a:ext cx="402336" cy="256032"/>
          </a:xfrm>
          <a:prstGeom prst="roundRect">
            <a:avLst>
              <a:gd name="adj" fmla="val 14286"/>
            </a:avLst>
          </a:prstGeom>
          <a:solidFill>
            <a:srgbClr val="F0F5FA"/>
          </a:solidFill>
          <a:ln w="12700">
            <a:solidFill>
              <a:srgbClr val="80C8C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1208" y="4087368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033272" y="4087368"/>
            <a:ext cx="402336" cy="256032"/>
          </a:xfrm>
          <a:prstGeom prst="roundRect">
            <a:avLst>
              <a:gd name="adj" fmla="val 14286"/>
            </a:avLst>
          </a:prstGeom>
          <a:solidFill>
            <a:srgbClr val="F0F5FA"/>
          </a:solidFill>
          <a:ln w="12700">
            <a:solidFill>
              <a:srgbClr val="80C8C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33272" y="4087368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21208" y="4407408"/>
            <a:ext cx="402336" cy="256032"/>
          </a:xfrm>
          <a:prstGeom prst="roundRect">
            <a:avLst>
              <a:gd name="adj" fmla="val 14286"/>
            </a:avLst>
          </a:prstGeom>
          <a:solidFill>
            <a:srgbClr val="F0F5FA"/>
          </a:solidFill>
          <a:ln w="12700">
            <a:solidFill>
              <a:srgbClr val="80C8C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1208" y="4407408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033272" y="4407408"/>
            <a:ext cx="402336" cy="256032"/>
          </a:xfrm>
          <a:prstGeom prst="roundRect">
            <a:avLst>
              <a:gd name="adj" fmla="val 14286"/>
            </a:avLst>
          </a:prstGeom>
          <a:solidFill>
            <a:srgbClr val="F0F5FA"/>
          </a:solidFill>
          <a:ln w="12700">
            <a:solidFill>
              <a:srgbClr val="80C8C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33272" y="4407408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21208" y="4727448"/>
            <a:ext cx="402336" cy="256032"/>
          </a:xfrm>
          <a:prstGeom prst="roundRect">
            <a:avLst>
              <a:gd name="adj" fmla="val 14286"/>
            </a:avLst>
          </a:prstGeom>
          <a:solidFill>
            <a:srgbClr val="F0F5FA"/>
          </a:solidFill>
          <a:ln w="12700">
            <a:solidFill>
              <a:srgbClr val="80C8C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1208" y="4727448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1033272" y="4727448"/>
            <a:ext cx="402336" cy="256032"/>
          </a:xfrm>
          <a:prstGeom prst="roundRect">
            <a:avLst>
              <a:gd name="adj" fmla="val 14286"/>
            </a:avLst>
          </a:prstGeom>
          <a:solidFill>
            <a:srgbClr val="F0F5FA"/>
          </a:solidFill>
          <a:ln w="12700">
            <a:solidFill>
              <a:srgbClr val="80C8C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33272" y="4727448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57200" y="480974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7 answered  ·  13 remaining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1828800" y="1444752"/>
            <a:ext cx="690372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1E3E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2011680" y="1554480"/>
            <a:ext cx="6537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Q8.  Explain the role of cryptographic hash functions in maintaining data integrity during examination submission.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2011680" y="2057400"/>
            <a:ext cx="6492240" cy="0"/>
          </a:xfrm>
          <a:prstGeom prst="line">
            <a:avLst/>
          </a:prstGeom>
          <a:noFill/>
          <a:ln w="6350">
            <a:solidFill>
              <a:srgbClr val="80C8C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011680" y="2148840"/>
            <a:ext cx="6537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cryptographic hash function produces a fixed-size digest from variable input. In exam submission, each answer block is passed through SHA-256 before GPG encryption, ensuring that any post-submission tampering changes the hash and invalidates the payload signature...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[cursor]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1828800" y="4809744"/>
            <a:ext cx="6903720" cy="201168"/>
          </a:xfrm>
          <a:prstGeom prst="roundRect">
            <a:avLst>
              <a:gd name="adj" fmla="val 18182"/>
            </a:avLst>
          </a:prstGeom>
          <a:solidFill>
            <a:srgbClr val="EEF3F8"/>
          </a:solidFill>
          <a:ln w="6350">
            <a:solidFill>
              <a:srgbClr val="80C8C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920240" y="4809744"/>
            <a:ext cx="6720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Auto-saved: 14:32:05  ·  Q8 / 20  ·  Words: 142  ·  ENCRYPTED BUFFER ACTIVE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09728" cy="109728"/>
          </a:xfrm>
          <a:prstGeom prst="ellipse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64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FAIL-SAFE STATE PRESERVATION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" y="49377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Background Integrity — Auto-Save, JSON Payload, Timestamp Flash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8321040" cy="0"/>
          </a:xfrm>
          <a:prstGeom prst="line">
            <a:avLst/>
          </a:prstGeom>
          <a:noFill/>
          <a:ln w="9525">
            <a:solidFill>
              <a:srgbClr val="80C8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05840"/>
            <a:ext cx="2788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1E3E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6072" y="1170432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E0F5F5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17043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T+0s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25880" y="11521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 Begins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6072" y="1536192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ExamView initializes. GLib timer loop registered at 30-second intervals.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55848" y="1005840"/>
            <a:ext cx="2788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1E3E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20440" y="1170432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E0F5F5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117043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T+30s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70248" y="11521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Auto-Save Trigger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20440" y="1536192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GLib.timeout_add(30000, autosave_routine) fires. Reads all answer TextBuffers.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00216" y="1005840"/>
            <a:ext cx="2788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1E3E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64808" y="1170432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E0F5F5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64808" y="117043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T+30s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214616" y="11521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Serialization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64808" y="1536192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serialized into local JSON: {q_id, answer_text, word_count, timestamp}.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2926080"/>
            <a:ext cx="2788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1E3E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76072" y="3090672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E0F5F5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309067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T+30s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25880" y="30723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Disk Write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76072" y="3456432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written to encrypted SSD path: /var/exam/session_backup.json.enc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55848" y="2926080"/>
            <a:ext cx="2788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1E3E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520440" y="3090672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E0F5F5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20440" y="309067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T+30s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270248" y="30723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Timestamp Flash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520440" y="3456432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GTK status bar flashes 'Auto-saved: HH:MM:SS' confirmation to student.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300216" y="2926080"/>
            <a:ext cx="2788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1E3E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64808" y="3090672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E0F5F5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64808" y="309067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T+60s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214616" y="30723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Cycle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64808" y="3456432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repeats. Old backup is atomically replaced. Corruption risk: zero.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11480" y="4645152"/>
            <a:ext cx="8321040" cy="347472"/>
          </a:xfrm>
          <a:prstGeom prst="roundRect">
            <a:avLst>
              <a:gd name="adj" fmla="val 15789"/>
            </a:avLst>
          </a:prstGeom>
          <a:solidFill>
            <a:srgbClr val="F0F4F8"/>
          </a:solidFill>
          <a:ln w="12700">
            <a:solidFill>
              <a:srgbClr val="80C8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4645152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{"q_id": "Q8", "answer": "A cryptographic hash...", "words": 142, "saved": "2026-06-14T14:32:05Z"}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09728" cy="109728"/>
          </a:xfrm>
          <a:prstGeom prst="ellipse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64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DOUBLE-LAYER QUESTION DECRYPTION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" y="49377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Layer 1 &amp; 2  ·  Question Vault — Disk → RAM Decryption Chain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8321040" cy="0"/>
          </a:xfrm>
          <a:prstGeom prst="line">
            <a:avLst/>
          </a:prstGeom>
          <a:noFill/>
          <a:ln w="9525">
            <a:solidFill>
              <a:srgbClr val="80C8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87552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1E3E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21208" y="1060704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Encrypted on Disk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1208" y="1389888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/var/exam/paper.enc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331720" y="1170432"/>
            <a:ext cx="256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96A0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587752" y="987552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1E3E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97480" y="1060704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ChaCha20-Poly1305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97480" y="1389888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1 — outer envelope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07992" y="1170432"/>
            <a:ext cx="256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96A0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764024" y="987552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1E3E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73752" y="1060704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AES-256-GCM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73752" y="1389888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2 — inner envelope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684264" y="1170432"/>
            <a:ext cx="256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96A0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940296" y="987552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1E3E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050024" y="1060704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Plaintext in RAM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50024" y="1389888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Volatile memory only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2029968"/>
            <a:ext cx="2743200" cy="28803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1E3E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76072" y="21488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9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ChaCha20-Poly1305 (Layer 1)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76072" y="2487168"/>
            <a:ext cx="2423160" cy="0"/>
          </a:xfrm>
          <a:prstGeom prst="line">
            <a:avLst/>
          </a:prstGeom>
          <a:noFill/>
          <a:ln w="6350">
            <a:solidFill>
              <a:srgbClr val="80C8C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" y="2578608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105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cipher, hardware-accelerated on ARM &amp; x86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76072" y="3127248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105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256-bit key derived from master exam key + date salt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76072" y="3675888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105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Poly1305 authenticator detects tampered ciphertext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76072" y="4224528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105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Decryption key never persisted to disk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19272" y="2029968"/>
            <a:ext cx="2743200" cy="28803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1E3E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483864" y="21488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9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AES-256-GCM (Layer 2)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483864" y="2487168"/>
            <a:ext cx="2423160" cy="0"/>
          </a:xfrm>
          <a:prstGeom prst="line">
            <a:avLst/>
          </a:prstGeom>
          <a:noFill/>
          <a:ln w="6350">
            <a:solidFill>
              <a:srgbClr val="80C8C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83864" y="2578608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105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cipher with Galois/Counter Mode authentication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483864" y="3127248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105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Industry-standard FIPS 140-2 compliant algorithm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483864" y="3675888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105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12-byte nonce unique per exam session per machine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483864" y="4224528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105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tag verification before any plaintext is released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27064" y="2029968"/>
            <a:ext cx="2743200" cy="28803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1E3E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391656" y="21488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9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Volatile RAM Constraint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91656" y="2487168"/>
            <a:ext cx="2423160" cy="0"/>
          </a:xfrm>
          <a:prstGeom prst="line">
            <a:avLst/>
          </a:prstGeom>
          <a:noFill/>
          <a:ln w="6350">
            <a:solidFill>
              <a:srgbClr val="80C8C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91656" y="2578608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105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Decrypted paper exists ONLY in Python object in RAM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391656" y="3127248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105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mlockall() prevents OS swapping plaintext to disk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391656" y="3675888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105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is zeroed on exam completion or crash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391656" y="4224528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105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Power-off destroys all plaintext — no forensic recovery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09728" cy="109728"/>
          </a:xfrm>
          <a:prstGeom prst="ellipse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64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ASYMMETRIC ANSWER LOCKING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" y="49377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Layer 3  ·  RSA-4096 / Ed25519 Response Hardening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8321040" cy="0"/>
          </a:xfrm>
          <a:prstGeom prst="line">
            <a:avLst/>
          </a:prstGeom>
          <a:noFill/>
          <a:ln w="9525">
            <a:solidFill>
              <a:srgbClr val="80C8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05840"/>
            <a:ext cx="3657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1E3E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91640" y="1188720"/>
            <a:ext cx="1097280" cy="1097280"/>
          </a:xfrm>
          <a:prstGeom prst="ellipse">
            <a:avLst/>
          </a:prstGeom>
          <a:solidFill>
            <a:srgbClr val="E0F5F5"/>
          </a:solidFill>
          <a:ln w="19050">
            <a:solidFill>
              <a:srgbClr val="009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91640" y="11887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🔓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94360" y="239572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9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KEY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9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(On Kiosk)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9443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RSA-4096 / Ed25519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16382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Baked into OS image at build time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3832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Encrypts all student responses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60273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decrypt — encrypt-only mode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382219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hash: sha256:8f2a...c94e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60520" y="20116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 →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60520" y="2423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 DECRYPT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74920" y="1005840"/>
            <a:ext cx="3657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1E3E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55080" y="1188720"/>
            <a:ext cx="1097280" cy="1097280"/>
          </a:xfrm>
          <a:prstGeom prst="ellipse">
            <a:avLst/>
          </a:prstGeom>
          <a:solidFill>
            <a:srgbClr val="FFF3E0"/>
          </a:solidFill>
          <a:ln w="19050">
            <a:solidFill>
              <a:srgbClr val="C475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11887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257800" y="239572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7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KEY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C47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(HQ Only)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57800" y="29443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RSA-4096 / Ed25519 private half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57800" y="316382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only at central headquarters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57800" y="33832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air-gapped secure vault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57800" y="360273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to decrypt all submissions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57800" y="382219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confirmation audit receipt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4069080"/>
            <a:ext cx="8321040" cy="804672"/>
          </a:xfrm>
          <a:prstGeom prst="roundRect">
            <a:avLst>
              <a:gd name="adj" fmla="val 9091"/>
            </a:avLst>
          </a:prstGeom>
          <a:solidFill>
            <a:srgbClr val="E0F5F5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133088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9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TAMPER GUARANTEE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" y="440740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the private key never resides on the exam kiosk, no local actor — student, operator, or administrator — can decrypt or modify stored answers. Files are mathematically unreadable without central HQ authorization.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09728" cy="109728"/>
          </a:xfrm>
          <a:prstGeom prst="ellipse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64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OPERATING SYSTEM LOCKDOWN CHECKLIST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" y="49377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Level Security Hardening — Infrastructure Lockdown Rules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8321040" cy="0"/>
          </a:xfrm>
          <a:prstGeom prst="line">
            <a:avLst/>
          </a:prstGeom>
          <a:noFill/>
          <a:ln w="9525">
            <a:solidFill>
              <a:srgbClr val="80C8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6012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1E3E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6072" y="1124712"/>
            <a:ext cx="777240" cy="228600"/>
          </a:xfrm>
          <a:prstGeom prst="roundRect">
            <a:avLst>
              <a:gd name="adj" fmla="val 16000"/>
            </a:avLst>
          </a:prstGeom>
          <a:solidFill>
            <a:srgbClr val="E0F5F5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124712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435608" y="1088136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Privileges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6072" y="145389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/etc/sudoers — no exam-kiosk entry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1E3E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19472" y="1124712"/>
            <a:ext cx="777240" cy="228600"/>
          </a:xfrm>
          <a:prstGeom prst="roundRect">
            <a:avLst>
              <a:gd name="adj" fmla="val 16000"/>
            </a:avLst>
          </a:prstGeom>
          <a:solidFill>
            <a:srgbClr val="E0F5F5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1124712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779008" y="1088136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Shell Access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19472" y="145389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passwd: exam-kiosk:x:1001::/sbin/nologin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1984248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1E3E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6072" y="2148840"/>
            <a:ext cx="777240" cy="228600"/>
          </a:xfrm>
          <a:prstGeom prst="roundRect">
            <a:avLst>
              <a:gd name="adj" fmla="val 16000"/>
            </a:avLst>
          </a:prstGeom>
          <a:solidFill>
            <a:srgbClr val="E0F5F5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" y="2148840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435608" y="211226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TTY Switch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6072" y="247802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VT switching disabled via cage flags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1984248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1E3E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19472" y="2148840"/>
            <a:ext cx="777240" cy="228600"/>
          </a:xfrm>
          <a:prstGeom prst="roundRect">
            <a:avLst>
              <a:gd name="adj" fmla="val 16000"/>
            </a:avLst>
          </a:prstGeom>
          <a:solidFill>
            <a:srgbClr val="E0F5F5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2148840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779008" y="211226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AppArmor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19472" y="247802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/etc/apparmor.d/hope-exam-kiosk — enforce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3008376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1E3E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76072" y="3172968"/>
            <a:ext cx="777240" cy="228600"/>
          </a:xfrm>
          <a:prstGeom prst="roundRect">
            <a:avLst>
              <a:gd name="adj" fmla="val 16000"/>
            </a:avLst>
          </a:prstGeom>
          <a:solidFill>
            <a:srgbClr val="E0F5F5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" y="3172968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435608" y="3136392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USB Mount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76072" y="350215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udev rules: no auto-mount removable media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3008376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1E3E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919472" y="3172968"/>
            <a:ext cx="777240" cy="228600"/>
          </a:xfrm>
          <a:prstGeom prst="roundRect">
            <a:avLst>
              <a:gd name="adj" fmla="val 16000"/>
            </a:avLst>
          </a:prstGeom>
          <a:solidFill>
            <a:srgbClr val="E0F5F5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472" y="3172968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779008" y="3136392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Dumps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19472" y="350215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ulimit -c 0 + /proc/sys/kernel/core_pattern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11480" y="4032504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1E3E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76072" y="4197096"/>
            <a:ext cx="777240" cy="228600"/>
          </a:xfrm>
          <a:prstGeom prst="roundRect">
            <a:avLst>
              <a:gd name="adj" fmla="val 16000"/>
            </a:avLst>
          </a:prstGeom>
          <a:solidFill>
            <a:srgbClr val="E0F5F5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6072" y="4197096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435608" y="4160520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Ptrace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76072" y="452628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/proc/sys/kernel/yama/ptrace_scope = 2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54880" y="4032504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1E3E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919472" y="4197096"/>
            <a:ext cx="777240" cy="228600"/>
          </a:xfrm>
          <a:prstGeom prst="roundRect">
            <a:avLst>
              <a:gd name="adj" fmla="val 16000"/>
            </a:avLst>
          </a:prstGeom>
          <a:solidFill>
            <a:srgbClr val="E0F5F5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19472" y="4197096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779008" y="4160520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 Target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919472" y="452628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Systemd: kiosk-session.target only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09728" cy="109728"/>
          </a:xfrm>
          <a:prstGeom prst="ellipse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64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AIR-GAPPED NETWORK CONTROL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" y="49377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Network Elimination — Complete Physical &amp; Software Network Isolation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8321040" cy="0"/>
          </a:xfrm>
          <a:prstGeom prst="line">
            <a:avLst/>
          </a:prstGeom>
          <a:noFill/>
          <a:ln w="9525">
            <a:solidFill>
              <a:srgbClr val="80C8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60120"/>
            <a:ext cx="3063240" cy="4005072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1E3E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078992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C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BLOCKED ATTACK VECTORS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C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algn="l" indent="0" marL="0">
              <a:buNone/>
            </a:pPr>
            <a:r>
              <a:rPr lang="en-US" sz="110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/ WLAN connections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88366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C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algn="l" indent="0" marL="0">
              <a:buNone/>
            </a:pPr>
            <a:r>
              <a:rPr lang="en-US" sz="110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/ LAN access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3042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C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algn="l" indent="0" marL="0">
              <a:buNone/>
            </a:pPr>
            <a:r>
              <a:rPr lang="en-US" sz="110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data transfer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7249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C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algn="l" indent="0" marL="0">
              <a:buNone/>
            </a:pPr>
            <a:r>
              <a:rPr lang="en-US" sz="110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 / tethering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1455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C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algn="l" indent="0" marL="0">
              <a:buNone/>
            </a:pPr>
            <a:r>
              <a:rPr lang="en-US" sz="110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resolution (all queries drop)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35661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C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algn="l" indent="0" marL="0">
              <a:buNone/>
            </a:pPr>
            <a:r>
              <a:rPr lang="en-US" sz="110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outbound connections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398678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C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algn="l" indent="0" marL="0">
              <a:buNone/>
            </a:pPr>
            <a:r>
              <a:rPr lang="en-US" sz="110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outbound packets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44074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C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algn="l" indent="0" marL="0">
              <a:buNone/>
            </a:pPr>
            <a:r>
              <a:rPr lang="en-US" sz="110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ICMP (ping) requests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11880" y="960120"/>
            <a:ext cx="51206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1E3E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94760" y="1060704"/>
            <a:ext cx="4773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9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NetworkManager Disabled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794760" y="1353312"/>
            <a:ext cx="4773168" cy="228600"/>
          </a:xfrm>
          <a:prstGeom prst="roundRect">
            <a:avLst>
              <a:gd name="adj" fmla="val 16000"/>
            </a:avLst>
          </a:prstGeom>
          <a:solidFill>
            <a:srgbClr val="F0F4F8"/>
          </a:solidFill>
          <a:ln w="9525">
            <a:solidFill>
              <a:srgbClr val="80C8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58768" y="1353312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systemctl disable --now NetworkManager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794760" y="1627632"/>
            <a:ext cx="4773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and wired daemon permanently off at boot.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11880" y="2331720"/>
            <a:ext cx="51206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1E3E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794760" y="2432304"/>
            <a:ext cx="4773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9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Bluetooth Disabled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794760" y="2724912"/>
            <a:ext cx="4773168" cy="228600"/>
          </a:xfrm>
          <a:prstGeom prst="roundRect">
            <a:avLst>
              <a:gd name="adj" fmla="val 16000"/>
            </a:avLst>
          </a:prstGeom>
          <a:solidFill>
            <a:srgbClr val="F0F4F8"/>
          </a:solidFill>
          <a:ln w="9525">
            <a:solidFill>
              <a:srgbClr val="80C8C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58768" y="2724912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systemctl disable --now bluetooth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794760" y="2999232"/>
            <a:ext cx="4773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BlueZ stack removed. No pairing, no HID injection.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11880" y="3703320"/>
            <a:ext cx="51206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1E3E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794760" y="3803904"/>
            <a:ext cx="4773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9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iptables Hard Drop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794760" y="4096512"/>
            <a:ext cx="4773168" cy="228600"/>
          </a:xfrm>
          <a:prstGeom prst="roundRect">
            <a:avLst>
              <a:gd name="adj" fmla="val 16000"/>
            </a:avLst>
          </a:prstGeom>
          <a:solidFill>
            <a:srgbClr val="F0F4F8"/>
          </a:solidFill>
          <a:ln w="9525">
            <a:solidFill>
              <a:srgbClr val="80C8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58768" y="4096512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iptables -P INPUT DROP  -P OUTPUT DROP  -P FORWARD DROP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794760" y="4370832"/>
            <a:ext cx="4773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policy: DROP on all chains. Only loopback permitted.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11880" y="4645152"/>
            <a:ext cx="5120640" cy="347472"/>
          </a:xfrm>
          <a:prstGeom prst="roundRect">
            <a:avLst>
              <a:gd name="adj" fmla="val 15789"/>
            </a:avLst>
          </a:prstGeom>
          <a:solidFill>
            <a:srgbClr val="E0F5F5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03320" y="464515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HOPE OS kiosk is physically and software air-gapped. Zero TCP/UDP packets traverse any interface.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09728" cy="109728"/>
          </a:xfrm>
          <a:prstGeom prst="ellipse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64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ADMINISTRATION OFFBOARDING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" y="49377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4 — SubmitView  ·  GPG-Encrypted USB Collection &amp; Clean Shutdown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8321040" cy="0"/>
          </a:xfrm>
          <a:prstGeom prst="line">
            <a:avLst/>
          </a:prstGeom>
          <a:noFill/>
          <a:ln w="9525">
            <a:solidFill>
              <a:srgbClr val="80C8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05840"/>
            <a:ext cx="1572768" cy="32918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1E3E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0664" y="1143000"/>
            <a:ext cx="914400" cy="914400"/>
          </a:xfrm>
          <a:prstGeom prst="ellipse">
            <a:avLst/>
          </a:prstGeom>
          <a:solidFill>
            <a:srgbClr val="E0F5F5"/>
          </a:solidFill>
          <a:ln w="19050">
            <a:solidFill>
              <a:srgbClr val="009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43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9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" y="2212848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 Timer Expires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788920"/>
            <a:ext cx="13898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ExamView locks all text input. Auto-saves final state. Transitions to SubmitView.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984248" y="1417320"/>
            <a:ext cx="1645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0C8CF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148840" y="1005840"/>
            <a:ext cx="1572768" cy="32918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1E3E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78024" y="1143000"/>
            <a:ext cx="914400" cy="914400"/>
          </a:xfrm>
          <a:prstGeom prst="ellipse">
            <a:avLst/>
          </a:prstGeom>
          <a:solidFill>
            <a:srgbClr val="E0F5F5"/>
          </a:solidFill>
          <a:ln w="19050">
            <a:solidFill>
              <a:srgbClr val="009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78024" y="1143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9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240280" y="2212848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USB Detection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40280" y="2788920"/>
            <a:ext cx="13898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Gio.VolumeMonitor.get().connect('volume-added') fires when admin inserts drive.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721608" y="1417320"/>
            <a:ext cx="1645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0C8CF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886200" y="1005840"/>
            <a:ext cx="1572768" cy="32918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1E3E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15384" y="1143000"/>
            <a:ext cx="914400" cy="914400"/>
          </a:xfrm>
          <a:prstGeom prst="ellipse">
            <a:avLst/>
          </a:prstGeom>
          <a:solidFill>
            <a:srgbClr val="E0F5F5"/>
          </a:solidFill>
          <a:ln w="19050">
            <a:solidFill>
              <a:srgbClr val="009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15384" y="1143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9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977640" y="2212848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GPG Payload Copy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77640" y="2788920"/>
            <a:ext cx="13898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auto-copies encrypted answer payload to USB root: answers_EX-2026-042.gpg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58968" y="1417320"/>
            <a:ext cx="1645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0C8CF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623560" y="1005840"/>
            <a:ext cx="1572768" cy="32918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1E3E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52744" y="1143000"/>
            <a:ext cx="914400" cy="914400"/>
          </a:xfrm>
          <a:prstGeom prst="ellipse">
            <a:avLst/>
          </a:prstGeom>
          <a:solidFill>
            <a:srgbClr val="E0F5F5"/>
          </a:solidFill>
          <a:ln w="19050">
            <a:solidFill>
              <a:srgbClr val="0096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52744" y="1143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9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715000" y="2212848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 Verification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715000" y="2788920"/>
            <a:ext cx="13898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checksum compared between local and USB copies. Mismatch triggers retry.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196328" y="1417320"/>
            <a:ext cx="1645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0C8CF"/>
                </a:solidFill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360920" y="1005840"/>
            <a:ext cx="1572768" cy="32918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1E3E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690104" y="1143000"/>
            <a:ext cx="914400" cy="914400"/>
          </a:xfrm>
          <a:prstGeom prst="ellipse">
            <a:avLst/>
          </a:prstGeom>
          <a:solidFill>
            <a:srgbClr val="E0F5F5"/>
          </a:solidFill>
          <a:ln w="19050">
            <a:solidFill>
              <a:srgbClr val="0096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90104" y="1143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9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452360" y="2212848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Poweroff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52360" y="2788920"/>
            <a:ext cx="13898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verified success: subprocess.run(['systemctl', 'poweroff']) — clean shutdown.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11480" y="4434840"/>
            <a:ext cx="8321040" cy="566928"/>
          </a:xfrm>
          <a:prstGeom prst="roundRect">
            <a:avLst>
              <a:gd name="adj" fmla="val 9677"/>
            </a:avLst>
          </a:prstGeom>
          <a:solidFill>
            <a:srgbClr val="F0F4F8"/>
          </a:solidFill>
          <a:ln w="12700">
            <a:solidFill>
              <a:srgbClr val="80C8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4453128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Gio.VolumeMonitor USB detection
</a:t>
            </a:r>
            <a:pPr algn="l" indent="0" marL="0">
              <a:buNone/>
            </a:pPr>
            <a:r>
              <a:rPr lang="en-US" sz="850" dirty="0">
                <a:solidFill>
                  <a:srgbClr val="00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 = Gio.VolumeMonitor.get()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00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monitor.connect("volume-added", lambda _, v: self.on_usb_inserted(v))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009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After copy: sha256(local) == sha256(usb) → subprocess.run(["systemctl","poweroff"])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09728" cy="109728"/>
          </a:xfrm>
          <a:prstGeom prst="ellipse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64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NEXT-GENERATION SEMANTIC SECURITY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" y="49377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Technical Roadmap — Phase 2 Upgrades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8321040" cy="0"/>
          </a:xfrm>
          <a:prstGeom prst="line">
            <a:avLst/>
          </a:prstGeom>
          <a:noFill/>
          <a:ln w="9525">
            <a:solidFill>
              <a:srgbClr val="80C8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0" y="960120"/>
            <a:ext cx="777240" cy="320040"/>
          </a:xfrm>
          <a:prstGeom prst="roundRect">
            <a:avLst>
              <a:gd name="adj" fmla="val 14286"/>
            </a:avLst>
          </a:prstGeom>
          <a:solidFill>
            <a:srgbClr val="E0F5F5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96012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371600"/>
            <a:ext cx="2743200" cy="3547872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1E3E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76072" y="1508760"/>
            <a:ext cx="548640" cy="256032"/>
          </a:xfrm>
          <a:prstGeom prst="roundRect">
            <a:avLst>
              <a:gd name="adj" fmla="val 14286"/>
            </a:avLst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15087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16152" y="148132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 Semantic Similarity Engine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6072" y="190195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sentence-transformers  ·  FAISS  ·  torch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76072" y="2212848"/>
            <a:ext cx="2423160" cy="0"/>
          </a:xfrm>
          <a:prstGeom prst="line">
            <a:avLst/>
          </a:prstGeom>
          <a:noFill/>
          <a:ln w="6350">
            <a:solidFill>
              <a:srgbClr val="80C8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233172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100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NLP model detects semantically similar answers across all students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6072" y="292608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100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collusion patterns without any internet upload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6072" y="352044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100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threshold tunable per exam type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6072" y="411480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100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air-gapped inference — no cloud API dependency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19272" y="1371600"/>
            <a:ext cx="2743200" cy="3547872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1E3E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83864" y="1508760"/>
            <a:ext cx="548640" cy="256032"/>
          </a:xfrm>
          <a:prstGeom prst="roundRect">
            <a:avLst>
              <a:gd name="adj" fmla="val 14286"/>
            </a:avLst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83864" y="15087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23944" y="148132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Shamir's Secret Sharing (Split-Key)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83864" y="190195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sslib  ·  cryptography  ·  threshold n-of-m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483864" y="2212848"/>
            <a:ext cx="2423160" cy="0"/>
          </a:xfrm>
          <a:prstGeom prst="line">
            <a:avLst/>
          </a:prstGeom>
          <a:noFill/>
          <a:ln w="6350">
            <a:solidFill>
              <a:srgbClr val="80C8C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83864" y="233172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100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decryption key split into N shares (e.g. 5-of-8 threshold)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83864" y="292608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100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administrator can decrypt answers alone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83864" y="352044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100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distributed to independent trustees pre-exam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83864" y="411480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100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reconstruction requires quorum — prevents insider decryption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27064" y="1371600"/>
            <a:ext cx="2743200" cy="3547872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1E3EA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91656" y="1508760"/>
            <a:ext cx="548640" cy="256032"/>
          </a:xfrm>
          <a:prstGeom prst="roundRect">
            <a:avLst>
              <a:gd name="adj" fmla="val 14286"/>
            </a:avLst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91656" y="15087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031736" y="148132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Zero-Knowledge Proof Integrity Layer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91656" y="190195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snarkjs  ·  circom  ·  groth16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391656" y="2212848"/>
            <a:ext cx="2423160" cy="0"/>
          </a:xfrm>
          <a:prstGeom prst="line">
            <a:avLst/>
          </a:prstGeom>
          <a:noFill/>
          <a:ln w="6350">
            <a:solidFill>
              <a:srgbClr val="80C8C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91656" y="233172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100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prove exam completion without revealing answers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91656" y="292608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100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ZK-SNARK proof verifies session integrity without decryption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91656" y="352044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100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authority confirms compliance with cryptographic proof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91656" y="411480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algn="l" indent="0" marL="0">
              <a:buNone/>
            </a:pPr>
            <a:r>
              <a:rPr lang="en-US" sz="100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any trust assumption from exam center operators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11480" y="495604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 OS  ·  Team GrowMore  ·  FAR AWAY Hackathon 2026  ·  aditisingh0102.github.io/trust-exam-shield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HOPE OS — Secure Exam Kiosk</dc:title>
  <dc:subject>PptxGenJS Presentation</dc:subject>
  <dc:creator>Team GrowMore</dc:creator>
  <cp:lastModifiedBy>Team GrowMore</cp:lastModifiedBy>
  <cp:revision>1</cp:revision>
  <dcterms:created xsi:type="dcterms:W3CDTF">2026-06-14T16:16:22Z</dcterms:created>
  <dcterms:modified xsi:type="dcterms:W3CDTF">2026-06-14T16:16:22Z</dcterms:modified>
</cp:coreProperties>
</file>